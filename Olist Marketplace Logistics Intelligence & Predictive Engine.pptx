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3" d="100"/>
          <a:sy n="53" d="100"/>
        </p:scale>
        <p:origin x="68" y="13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29.png"/><Relationship Id="rId5" Type="http://schemas.openxmlformats.org/officeDocument/2006/relationships/image" Target="../media/image20.png"/><Relationship Id="rId10" Type="http://schemas.openxmlformats.org/officeDocument/2006/relationships/image" Target="../media/image28.png"/><Relationship Id="rId4" Type="http://schemas.openxmlformats.org/officeDocument/2006/relationships/image" Target="../media/image19.png"/><Relationship Id="rId9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31.png"/><Relationship Id="rId4" Type="http://schemas.openxmlformats.org/officeDocument/2006/relationships/image" Target="../media/image19.png"/><Relationship Id="rId9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3" Type="http://schemas.openxmlformats.org/officeDocument/2006/relationships/image" Target="../media/image2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11.png"/><Relationship Id="rId10" Type="http://schemas.openxmlformats.org/officeDocument/2006/relationships/image" Target="../media/image37.png"/><Relationship Id="rId4" Type="http://schemas.openxmlformats.org/officeDocument/2006/relationships/image" Target="../media/image32.png"/><Relationship Id="rId9" Type="http://schemas.openxmlformats.org/officeDocument/2006/relationships/image" Target="../media/image3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51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12" Type="http://schemas.openxmlformats.org/officeDocument/2006/relationships/image" Target="../media/image50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11" Type="http://schemas.openxmlformats.org/officeDocument/2006/relationships/image" Target="../media/image49.png"/><Relationship Id="rId5" Type="http://schemas.openxmlformats.org/officeDocument/2006/relationships/image" Target="../media/image44.png"/><Relationship Id="rId10" Type="http://schemas.openxmlformats.org/officeDocument/2006/relationships/image" Target="../media/image11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6334125"/>
            <a:ext cx="11049000" cy="142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62" b="0" i="0" u="none">
                <a:solidFill>
                  <a:srgbClr val="94A3B8"/>
                </a:solidFill>
                <a:latin typeface="Plus Jakarta Sans SemiBold"/>
              </a:rPr>
              <a:t>Slide 1 of 8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867400" y="2435572"/>
            <a:ext cx="457200" cy="381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95525" y="2602620"/>
            <a:ext cx="76009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3000" b="1" i="0" u="none" dirty="0" err="1">
                <a:solidFill>
                  <a:srgbClr val="0F172A"/>
                </a:solidFill>
                <a:latin typeface="Space Grotesk"/>
              </a:rPr>
              <a:t>Olist</a:t>
            </a:r>
            <a:r>
              <a:rPr sz="3000" b="1" i="0" u="none" dirty="0">
                <a:solidFill>
                  <a:srgbClr val="0F172A"/>
                </a:solidFill>
                <a:latin typeface="Space Grotesk"/>
              </a:rPr>
              <a:t> Marketplace Logistics Intelligence</a:t>
            </a:r>
            <a:r>
              <a:rPr dirty="0"/>
              <a:t>
</a:t>
            </a:r>
            <a:r>
              <a:rPr sz="3000" b="1" i="0" u="none" dirty="0">
                <a:solidFill>
                  <a:srgbClr val="0284C7"/>
                </a:solidFill>
                <a:latin typeface="Space Grotesk"/>
              </a:rPr>
              <a:t>&amp; Predictive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76500" y="3807172"/>
            <a:ext cx="7239000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60"/>
              </a:lnSpc>
            </a:pPr>
            <a:r>
              <a:rPr sz="1162" b="0" i="0" u="none">
                <a:solidFill>
                  <a:srgbClr val="475569"/>
                </a:solidFill>
                <a:latin typeface="Plus Jakarta Sans"/>
              </a:rPr>
              <a:t>An end-to-end data pipeline: Relational SQL modeling, operational Power BI tracking, customer and inventory behavioral analytics, and live ML freight price estimation.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201935"/>
            <a:ext cx="5391150" cy="503693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350" y="1201935"/>
            <a:ext cx="5391150" cy="503693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5705475"/>
            <a:ext cx="4914900" cy="2952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7475" y="5705475"/>
            <a:ext cx="4914900" cy="2952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6334125"/>
            <a:ext cx="11049000" cy="142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62" b="0" i="0" u="none">
                <a:solidFill>
                  <a:srgbClr val="94A3B8"/>
                </a:solidFill>
                <a:latin typeface="Plus Jakarta Sans SemiBold"/>
              </a:rPr>
              <a:t>Slide 2 of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811410"/>
            <a:ext cx="108966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0" i="0" u="none">
                <a:solidFill>
                  <a:srgbClr val="475569"/>
                </a:solidFill>
                <a:latin typeface="Plus Jakarta Sans Medium"/>
              </a:rPr>
              <a:t>Operating hurdles across the decentralized marketplace and structured technical solutions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491430"/>
            <a:ext cx="38100" cy="2667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3900" y="476250"/>
            <a:ext cx="2750343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950" b="1" i="0" u="none" dirty="0">
                <a:solidFill>
                  <a:srgbClr val="0F172A"/>
                </a:solidFill>
                <a:latin typeface="Space Grotesk"/>
              </a:rPr>
              <a:t>Project Goals &amp;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1440060"/>
            <a:ext cx="49149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62" b="1" i="0" u="none">
                <a:solidFill>
                  <a:srgbClr val="0284C7"/>
                </a:solidFill>
                <a:latin typeface="Space Grotesk"/>
              </a:rPr>
              <a:t>Business Problem Statement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1744860"/>
            <a:ext cx="49149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 err="1">
                <a:solidFill>
                  <a:srgbClr val="0F172A"/>
                </a:solidFill>
                <a:latin typeface="Plus Jakarta Sans"/>
              </a:rPr>
              <a:t>Olist</a:t>
            </a:r>
            <a:r>
              <a:rPr sz="1200" b="0" i="0" u="none" dirty="0">
                <a:solidFill>
                  <a:srgbClr val="0F172A"/>
                </a:solidFill>
                <a:latin typeface="Plus Jakarta Sans"/>
              </a:rPr>
              <a:t> connects thousands of independent sellers across Brazil, but logistical friction impairs platform growth and repeat buyer trust: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7475" y="1440060"/>
            <a:ext cx="49149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62" b="1" i="0" u="none">
                <a:solidFill>
                  <a:srgbClr val="0284C7"/>
                </a:solidFill>
                <a:latin typeface="Space Grotesk"/>
              </a:rPr>
              <a:t>Sequential Technical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7475" y="1744860"/>
            <a:ext cx="49149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F172A"/>
                </a:solidFill>
                <a:latin typeface="Plus Jakarta Sans"/>
              </a:rPr>
              <a:t>Architected a structured 4-stage engineering workflow to systematically address each friction point: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1075" y="2476090"/>
            <a:ext cx="474345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u="none" dirty="0">
                <a:solidFill>
                  <a:srgbClr val="0F172A"/>
                </a:solidFill>
                <a:latin typeface="Plus Jakarta Sans"/>
              </a:rPr>
              <a:t>Delivery SLA Breaches:</a:t>
            </a:r>
            <a:r>
              <a:rPr sz="1000" b="0" i="0" u="none" dirty="0">
                <a:solidFill>
                  <a:srgbClr val="334155"/>
                </a:solidFill>
                <a:latin typeface="Plus Jakarta Sans"/>
              </a:rPr>
              <a:t> Severe interstate transit delays cause customer review scores to collapse.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1075" y="2955019"/>
            <a:ext cx="4743450" cy="3836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511"/>
              </a:lnSpc>
            </a:pPr>
            <a:r>
              <a:rPr sz="1000" b="1" dirty="0">
                <a:solidFill>
                  <a:srgbClr val="0F172A"/>
                </a:solidFill>
                <a:latin typeface="Plus Jakarta Sans"/>
              </a:rPr>
              <a:t>Freight Fee </a:t>
            </a:r>
            <a:r>
              <a:rPr sz="1000" dirty="0">
                <a:solidFill>
                  <a:srgbClr val="0F172A"/>
                </a:solidFill>
                <a:latin typeface="Plus Jakarta Sans"/>
              </a:rPr>
              <a:t>Volatility: Unpredictable regional delivery fees lead to cart abandonment at checkout.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1075" y="3433948"/>
            <a:ext cx="4743450" cy="3836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511"/>
              </a:lnSpc>
            </a:pPr>
            <a:r>
              <a:rPr sz="1000" b="1" dirty="0">
                <a:solidFill>
                  <a:srgbClr val="0F172A"/>
                </a:solidFill>
                <a:latin typeface="Plus Jakarta Sans"/>
              </a:rPr>
              <a:t>Customer Churn:</a:t>
            </a:r>
            <a:r>
              <a:rPr sz="1000" dirty="0">
                <a:solidFill>
                  <a:srgbClr val="0F172A"/>
                </a:solidFill>
                <a:latin typeface="Plus Jakarta Sans"/>
              </a:rPr>
              <a:t> Marketplace functions heavily as an acquisition-dependent single-purchase channel.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38925" y="2465226"/>
            <a:ext cx="4743450" cy="3836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1" i="0" u="none">
                <a:solidFill>
                  <a:srgbClr val="0F172A"/>
                </a:solidFill>
                <a:latin typeface="Plus Jakarta Sans"/>
              </a:rPr>
              <a:t>SQL Modeling:</a:t>
            </a:r>
            <a:r>
              <a:rPr sz="975" b="0" i="0" u="none">
                <a:solidFill>
                  <a:srgbClr val="334155"/>
                </a:solidFill>
                <a:latin typeface="Plus Jakarta Sans"/>
              </a:rPr>
              <a:t> Enforce relational integrity, fix join fan-out, and disambiguate customer IDs.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38925" y="2944155"/>
            <a:ext cx="4743450" cy="3836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1" i="0" u="none">
                <a:solidFill>
                  <a:srgbClr val="0F172A"/>
                </a:solidFill>
                <a:latin typeface="Plus Jakarta Sans"/>
              </a:rPr>
              <a:t>Power BI Reporting:</a:t>
            </a:r>
            <a:r>
              <a:rPr sz="975" b="0" i="0" u="none">
                <a:solidFill>
                  <a:srgbClr val="334155"/>
                </a:solidFill>
                <a:latin typeface="Plus Jakarta Sans"/>
              </a:rPr>
              <a:t> Deploy an executive dashboard suite tracking GMV, SLA breaches, and delays.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38925" y="3423084"/>
            <a:ext cx="4743450" cy="3836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1" i="0" u="none" dirty="0">
                <a:solidFill>
                  <a:srgbClr val="0F172A"/>
                </a:solidFill>
                <a:latin typeface="Plus Jakarta Sans"/>
              </a:rPr>
              <a:t>Python Analytics:</a:t>
            </a:r>
            <a:r>
              <a:rPr sz="975" b="0" i="0" u="none" dirty="0">
                <a:solidFill>
                  <a:srgbClr val="334155"/>
                </a:solidFill>
                <a:latin typeface="Plus Jakarta Sans"/>
              </a:rPr>
              <a:t> Perform RFM segmentation, ABC/XYZ Pareto curves, and basket affinity mining.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38925" y="3902013"/>
            <a:ext cx="4743450" cy="3836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1" i="0" u="none" dirty="0">
                <a:solidFill>
                  <a:srgbClr val="0F172A"/>
                </a:solidFill>
                <a:latin typeface="Plus Jakarta Sans"/>
              </a:rPr>
              <a:t>ML Deployment:</a:t>
            </a:r>
            <a:r>
              <a:rPr sz="975" b="0" i="0" u="none" dirty="0">
                <a:solidFill>
                  <a:srgbClr val="334155"/>
                </a:solidFill>
                <a:latin typeface="Plus Jakarta Sans"/>
              </a:rPr>
              <a:t> Train gradient-boosted models and deploy a live </a:t>
            </a:r>
            <a:r>
              <a:rPr sz="975" b="0" i="0" u="none" dirty="0" err="1">
                <a:solidFill>
                  <a:srgbClr val="334155"/>
                </a:solidFill>
                <a:latin typeface="Plus Jakarta Sans"/>
              </a:rPr>
              <a:t>Streamlit</a:t>
            </a:r>
            <a:r>
              <a:rPr sz="975" b="0" i="0" u="none" dirty="0">
                <a:solidFill>
                  <a:srgbClr val="334155"/>
                </a:solidFill>
                <a:latin typeface="Plus Jakarta Sans"/>
              </a:rPr>
              <a:t> quoter.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625" y="2466565"/>
            <a:ext cx="476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0" i="0" u="none">
                <a:solidFill>
                  <a:srgbClr val="0284C7"/>
                </a:solidFill>
                <a:latin typeface="Plus Jakarta Sans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288" y="2957210"/>
            <a:ext cx="476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0" i="0" u="none" dirty="0">
                <a:solidFill>
                  <a:srgbClr val="0284C7"/>
                </a:solidFill>
                <a:latin typeface="Plus Jakarta Sans"/>
              </a:rPr>
              <a:t>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625" y="3424423"/>
            <a:ext cx="476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0" i="0" u="none">
                <a:solidFill>
                  <a:srgbClr val="0284C7"/>
                </a:solidFill>
                <a:latin typeface="Plus Jakarta Sans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7950" y="2466565"/>
            <a:ext cx="476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0" i="0" u="none" dirty="0">
                <a:solidFill>
                  <a:srgbClr val="0284C7"/>
                </a:solidFill>
                <a:latin typeface="Plus Jakarta Sans"/>
              </a:rPr>
              <a:t>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7475" y="2928211"/>
            <a:ext cx="476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0" i="0" u="none" dirty="0">
                <a:solidFill>
                  <a:srgbClr val="0284C7"/>
                </a:solidFill>
                <a:latin typeface="Plus Jakarta Sans"/>
              </a:rPr>
              <a:t>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2604" y="3421158"/>
            <a:ext cx="476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0" i="0" u="none" dirty="0">
                <a:solidFill>
                  <a:srgbClr val="0284C7"/>
                </a:solidFill>
                <a:latin typeface="Plus Jakarta Sans"/>
              </a:rPr>
              <a:t>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7475" y="3903352"/>
            <a:ext cx="476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0" i="0" u="none" dirty="0">
                <a:solidFill>
                  <a:srgbClr val="0284C7"/>
                </a:solidFill>
                <a:latin typeface="Plus Jakarta Sans"/>
              </a:rPr>
              <a:t>▪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201935"/>
            <a:ext cx="3530500" cy="503693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0600" y="1201935"/>
            <a:ext cx="3530649" cy="503693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9850" y="1201935"/>
            <a:ext cx="3530500" cy="503693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5705475"/>
            <a:ext cx="3054250" cy="2952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8725" y="5705475"/>
            <a:ext cx="3054399" cy="2952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7975" y="5705475"/>
            <a:ext cx="3054250" cy="2952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6334125"/>
            <a:ext cx="11049000" cy="142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62" b="0" i="0" u="none">
                <a:solidFill>
                  <a:srgbClr val="94A3B8"/>
                </a:solidFill>
                <a:latin typeface="Plus Jakarta Sans SemiBold"/>
              </a:rPr>
              <a:t>Slide 3 of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900" y="811410"/>
            <a:ext cx="108966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0" i="0" u="none">
                <a:solidFill>
                  <a:srgbClr val="475569"/>
                </a:solidFill>
                <a:latin typeface="Plus Jakarta Sans Medium"/>
              </a:rPr>
              <a:t>Automated Python ingestion, relational join fixes, and core analytics extracted in MySQL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" y="491430"/>
            <a:ext cx="38100" cy="2667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3900" y="476250"/>
            <a:ext cx="5750718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950" b="1" i="0" u="none">
                <a:solidFill>
                  <a:srgbClr val="0F172A"/>
                </a:solidFill>
                <a:latin typeface="Space Grotesk"/>
              </a:rPr>
              <a:t>Data Engineering &amp; SQL Analytical Foundation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1925834"/>
            <a:ext cx="3054250" cy="1000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0F172A"/>
                </a:solidFill>
                <a:latin typeface="Plus Jakarta Sans"/>
              </a:rPr>
              <a:t>Direct CSV imports into MySQL failed due to memory timeouts and encoding errors across 100k records. Built a streaming Python pipeline with </a:t>
            </a:r>
            <a:r>
              <a:rPr sz="1200" b="1" i="0" u="none" dirty="0" err="1">
                <a:solidFill>
                  <a:srgbClr val="0F172A"/>
                </a:solidFill>
                <a:latin typeface="Plus Jakarta Sans"/>
              </a:rPr>
              <a:t>pymysql</a:t>
            </a:r>
            <a:r>
              <a:rPr sz="1200" b="0" i="0" u="none" dirty="0">
                <a:solidFill>
                  <a:srgbClr val="0F172A"/>
                </a:solidFill>
                <a:latin typeface="Plus Jakarta Sans"/>
              </a:rPr>
              <a:t> to sanitize and load all tables.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8724" y="1922933"/>
            <a:ext cx="3054399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0F172A"/>
                </a:solidFill>
                <a:latin typeface="Plus Jakarta Sans"/>
              </a:rPr>
              <a:t>Joining orders with multiple items and split payment installments caused a Cartesian multiplication trap, falsely inflating reported revenues by 200–300%.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7975" y="1932829"/>
            <a:ext cx="305425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0F172A"/>
                </a:solidFill>
                <a:latin typeface="Plus Jakarta Sans"/>
              </a:rPr>
              <a:t>Engineered baseline metrics and operational supply chain models directly inside MySQL before passing data to Power BI dashboards: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625" y="1440060"/>
            <a:ext cx="304800" cy="304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09675" y="1501973"/>
            <a:ext cx="21907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Space Grotesk"/>
              </a:rPr>
              <a:t>Automated Ingestion &amp; Schema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2025" y="3068175"/>
            <a:ext cx="2882800" cy="1781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1000" b="0" i="0" u="none" dirty="0">
                <a:solidFill>
                  <a:srgbClr val="334155"/>
                </a:solidFill>
                <a:latin typeface="Plus Jakarta Sans"/>
              </a:rPr>
              <a:t>Enforced Foreign Keys across all 8 relational tables.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2025" y="3552826"/>
            <a:ext cx="2882800" cy="3704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1000" b="0" i="0" u="none" dirty="0">
                <a:solidFill>
                  <a:srgbClr val="334155"/>
                </a:solidFill>
                <a:latin typeface="Plus Jakarta Sans"/>
              </a:rPr>
              <a:t>Discovered and patched missing category translations (</a:t>
            </a:r>
            <a:r>
              <a:rPr sz="1000" b="0" i="0" u="none" dirty="0" err="1">
                <a:solidFill>
                  <a:srgbClr val="334155"/>
                </a:solidFill>
                <a:latin typeface="Plus Jakarta Sans"/>
              </a:rPr>
              <a:t>pc_gamer</a:t>
            </a:r>
            <a:r>
              <a:rPr sz="1000" b="0" i="0" u="none" dirty="0">
                <a:solidFill>
                  <a:srgbClr val="334155"/>
                </a:solidFill>
                <a:latin typeface="Plus Jakarta Sans"/>
              </a:rPr>
              <a:t> and food prep appliances).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68725" y="1440060"/>
            <a:ext cx="304800" cy="304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968775" y="1501973"/>
            <a:ext cx="21336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Space Grotesk"/>
              </a:rPr>
              <a:t>Relational Join &amp; Identity Fixes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40175" y="3073070"/>
            <a:ext cx="2882949" cy="5755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1" i="0" u="none" dirty="0">
                <a:solidFill>
                  <a:srgbClr val="0F172A"/>
                </a:solidFill>
                <a:latin typeface="Plus Jakarta Sans"/>
              </a:rPr>
              <a:t>Decoupled CTEs:</a:t>
            </a:r>
            <a:r>
              <a:rPr sz="975" b="0" i="0" u="none" dirty="0">
                <a:solidFill>
                  <a:srgbClr val="334155"/>
                </a:solidFill>
                <a:latin typeface="Plus Jakarta Sans"/>
              </a:rPr>
              <a:t> Pre-aggregated line items and payment methods independently before final joins.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40174" y="3552826"/>
            <a:ext cx="2882949" cy="594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1" i="0" u="none">
                <a:solidFill>
                  <a:srgbClr val="0F172A"/>
                </a:solidFill>
                <a:latin typeface="Plus Jakarta Sans"/>
              </a:rPr>
              <a:t>Entity Disambiguation:</a:t>
            </a:r>
            <a:r>
              <a:rPr sz="975" b="0" i="0" u="none">
                <a:solidFill>
                  <a:srgbClr val="334155"/>
                </a:solidFill>
                <a:latin typeface="Plus Jakarta Sans"/>
              </a:rPr>
              <a:t> Mapped temporary session keys (cust_id) to unique identities (cust_unique_id).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27975" y="1440060"/>
            <a:ext cx="304800" cy="3048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728025" y="1501973"/>
            <a:ext cx="20669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Space Grotesk"/>
              </a:rPr>
              <a:t>Core Models Extracted in SQL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99425" y="3060650"/>
            <a:ext cx="2882800" cy="3836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1" i="0" u="none" dirty="0">
                <a:solidFill>
                  <a:srgbClr val="0F172A"/>
                </a:solidFill>
                <a:latin typeface="Plus Jakarta Sans"/>
              </a:rPr>
              <a:t>Financials:</a:t>
            </a:r>
            <a:r>
              <a:rPr sz="975" b="0" i="0" u="none" dirty="0">
                <a:solidFill>
                  <a:srgbClr val="334155"/>
                </a:solidFill>
                <a:latin typeface="Plus Jakarta Sans"/>
              </a:rPr>
              <a:t> R$ 16.01M GMV, R$ 13.59M Net Revenue, R$ 160.99 AOV.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99425" y="3552826"/>
            <a:ext cx="2882800" cy="3836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1" i="0" u="none" dirty="0">
                <a:solidFill>
                  <a:srgbClr val="0F172A"/>
                </a:solidFill>
                <a:latin typeface="Plus Jakarta Sans"/>
              </a:rPr>
              <a:t>Milestone Lags:</a:t>
            </a:r>
            <a:r>
              <a:rPr sz="975" b="0" i="0" u="none" dirty="0">
                <a:solidFill>
                  <a:srgbClr val="334155"/>
                </a:solidFill>
                <a:latin typeface="Plus Jakarta Sans"/>
              </a:rPr>
              <a:t> Isolated seller dispatch delay from transit time.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99425" y="4125072"/>
            <a:ext cx="2882800" cy="5755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1" i="0" u="none" dirty="0">
                <a:solidFill>
                  <a:srgbClr val="0F172A"/>
                </a:solidFill>
                <a:latin typeface="Plus Jakarta Sans"/>
              </a:rPr>
              <a:t>Advanced Analytics:</a:t>
            </a:r>
            <a:r>
              <a:rPr sz="975" b="0" i="0" u="none" dirty="0">
                <a:solidFill>
                  <a:srgbClr val="334155"/>
                </a:solidFill>
                <a:latin typeface="Plus Jakarta Sans"/>
              </a:rPr>
              <a:t> ABC Pareto tiers, XYZ volatility metrics, and stored procedures for merchant audits.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5350" y="1525785"/>
            <a:ext cx="133350" cy="13335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08160" y="3061989"/>
            <a:ext cx="476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0" i="0" u="none" dirty="0">
                <a:solidFill>
                  <a:srgbClr val="0284C7"/>
                </a:solidFill>
                <a:latin typeface="Plus Jakarta Sans"/>
              </a:rPr>
              <a:t>▪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625" y="3540918"/>
            <a:ext cx="476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0" i="0" u="none" dirty="0">
                <a:solidFill>
                  <a:srgbClr val="0284C7"/>
                </a:solidFill>
                <a:latin typeface="Plus Jakarta Sans"/>
              </a:rPr>
              <a:t>▪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44925" y="1525785"/>
            <a:ext cx="152400" cy="13335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568725" y="3063545"/>
            <a:ext cx="476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0" i="0" u="none" dirty="0">
                <a:solidFill>
                  <a:srgbClr val="0284C7"/>
                </a:solidFill>
                <a:latin typeface="Plus Jakarta Sans"/>
              </a:rPr>
              <a:t>▪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68724" y="3543301"/>
            <a:ext cx="476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0" i="0" u="none">
                <a:solidFill>
                  <a:srgbClr val="0284C7"/>
                </a:solidFill>
                <a:latin typeface="Plus Jakarta Sans"/>
              </a:rPr>
              <a:t>▪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23225" y="1525785"/>
            <a:ext cx="114300" cy="13335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327975" y="3051125"/>
            <a:ext cx="476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0" i="0" u="none" dirty="0">
                <a:solidFill>
                  <a:srgbClr val="0284C7"/>
                </a:solidFill>
                <a:latin typeface="Plus Jakarta Sans"/>
              </a:rPr>
              <a:t>▪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7975" y="3543301"/>
            <a:ext cx="476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0" i="0" u="none">
                <a:solidFill>
                  <a:srgbClr val="0284C7"/>
                </a:solidFill>
                <a:latin typeface="Plus Jakarta Sans"/>
              </a:rPr>
              <a:t>▪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7975" y="4115547"/>
            <a:ext cx="476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0" i="0" u="none" dirty="0">
                <a:solidFill>
                  <a:srgbClr val="0284C7"/>
                </a:solidFill>
                <a:latin typeface="Plus Jakarta Sans"/>
              </a:rPr>
              <a:t>▪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9700" y="1201935"/>
            <a:ext cx="6477000" cy="503693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08671"/>
            <a:ext cx="4381500" cy="169842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540448"/>
            <a:ext cx="4381500" cy="169842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201935"/>
            <a:ext cx="2133600" cy="62954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19400" y="1201935"/>
            <a:ext cx="2133600" cy="62954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945778"/>
            <a:ext cx="2133600" cy="629542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19400" y="1945778"/>
            <a:ext cx="2133600" cy="62954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6334125"/>
            <a:ext cx="11049000" cy="142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62" b="0" i="0" u="none">
                <a:solidFill>
                  <a:srgbClr val="94A3B8"/>
                </a:solidFill>
                <a:latin typeface="Plus Jakarta Sans SemiBold"/>
              </a:rPr>
              <a:t>Slide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900" y="811410"/>
            <a:ext cx="108966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0" i="0" u="none">
                <a:solidFill>
                  <a:srgbClr val="475569"/>
                </a:solidFill>
                <a:latin typeface="Plus Jakarta Sans Medium"/>
              </a:rPr>
              <a:t>Tracking financial trajectory, credit card financing multipliers, and hourly transaction velocity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" y="491430"/>
            <a:ext cx="38100" cy="2667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3900" y="476250"/>
            <a:ext cx="6330791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950" b="1" i="0" u="none">
                <a:solidFill>
                  <a:srgbClr val="0F172A"/>
                </a:solidFill>
                <a:latin typeface="Space Grotesk"/>
              </a:rPr>
              <a:t>Executive Revenue Radar &amp; Commercial Economics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425" y="3251596"/>
            <a:ext cx="40576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0F172A"/>
                </a:solidFill>
                <a:latin typeface="Plus Jakarta Sans"/>
              </a:rPr>
              <a:t>Credit cards account for </a:t>
            </a:r>
            <a:r>
              <a:rPr sz="937" b="1" i="0" u="none">
                <a:solidFill>
                  <a:srgbClr val="0F172A"/>
                </a:solidFill>
                <a:latin typeface="Plus Jakarta Sans"/>
              </a:rPr>
              <a:t>78.34%</a:t>
            </a:r>
            <a:r>
              <a:rPr sz="937" b="0" i="0" u="none">
                <a:solidFill>
                  <a:srgbClr val="0F172A"/>
                </a:solidFill>
                <a:latin typeface="Plus Jakarta Sans"/>
              </a:rPr>
              <a:t> of volume, followed by Boleto at </a:t>
            </a:r>
            <a:r>
              <a:rPr sz="937" b="1" i="0" u="none">
                <a:solidFill>
                  <a:srgbClr val="0F172A"/>
                </a:solidFill>
                <a:latin typeface="Plus Jakarta Sans"/>
              </a:rPr>
              <a:t>17.92%</a:t>
            </a:r>
            <a:r>
              <a:rPr sz="937" b="0" i="0" u="none">
                <a:solidFill>
                  <a:srgbClr val="0F172A"/>
                </a:solidFill>
                <a:latin typeface="Plus Jakarta Sans"/>
              </a:rPr>
              <a:t>. Boleto introduces a 24–48 hour banking clearance delay before merchant fulfillment can begin.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3425" y="5083373"/>
            <a:ext cx="40576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0F172A"/>
                </a:solidFill>
                <a:latin typeface="Plus Jakarta Sans"/>
              </a:rPr>
              <a:t>Financing optimization proves extended plans (</a:t>
            </a:r>
            <a:r>
              <a:rPr sz="937" b="1" i="0" u="none">
                <a:solidFill>
                  <a:srgbClr val="0F172A"/>
                </a:solidFill>
                <a:latin typeface="Plus Jakarta Sans"/>
              </a:rPr>
              <a:t>8–10 installments</a:t>
            </a:r>
            <a:r>
              <a:rPr sz="937" b="0" i="0" u="none">
                <a:solidFill>
                  <a:srgbClr val="0F172A"/>
                </a:solidFill>
                <a:latin typeface="Plus Jakarta Sans"/>
              </a:rPr>
              <a:t>) more than double Average Order Value compared to single payments. Volume peaks heavily on weekdays between </a:t>
            </a:r>
            <a:r>
              <a:rPr sz="937" b="1" i="0" u="none">
                <a:solidFill>
                  <a:srgbClr val="0F172A"/>
                </a:solidFill>
                <a:latin typeface="Plus Jakarta Sans"/>
              </a:rPr>
              <a:t>13:00 and 16:00</a:t>
            </a:r>
            <a:r>
              <a:rPr sz="937" b="0" i="0" u="none">
                <a:solidFill>
                  <a:srgbClr val="0F172A"/>
                </a:solidFill>
                <a:latin typeface="Plus Jakarta Sans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425" y="1325760"/>
            <a:ext cx="1828800" cy="2199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2"/>
              </a:lnSpc>
            </a:pPr>
            <a:r>
              <a:rPr sz="1575" b="1" i="0" u="none">
                <a:solidFill>
                  <a:srgbClr val="0F172A"/>
                </a:solidFill>
                <a:latin typeface="Space Grotesk"/>
              </a:rPr>
              <a:t>R$ 16.01M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3425" y="1583828"/>
            <a:ext cx="182880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1" i="0" u="none">
                <a:solidFill>
                  <a:srgbClr val="64748B"/>
                </a:solidFill>
                <a:latin typeface="Plus Jakarta Sans"/>
              </a:rPr>
              <a:t>GROSS REVENUE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81325" y="1325760"/>
            <a:ext cx="1828800" cy="2199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2"/>
              </a:lnSpc>
            </a:pPr>
            <a:r>
              <a:rPr sz="1575" b="1" i="0" u="none">
                <a:solidFill>
                  <a:srgbClr val="0F172A"/>
                </a:solidFill>
                <a:latin typeface="Space Grotesk"/>
              </a:rPr>
              <a:t>R$ 13.59M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81325" y="1583828"/>
            <a:ext cx="182880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1" i="0" u="none">
                <a:solidFill>
                  <a:srgbClr val="64748B"/>
                </a:solidFill>
                <a:latin typeface="Plus Jakarta Sans"/>
              </a:rPr>
              <a:t>NET REVENUE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3425" y="2069603"/>
            <a:ext cx="1828800" cy="2199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2"/>
              </a:lnSpc>
            </a:pPr>
            <a:r>
              <a:rPr sz="1575" b="1" i="0" u="none">
                <a:solidFill>
                  <a:srgbClr val="0F172A"/>
                </a:solidFill>
                <a:latin typeface="Space Grotesk"/>
              </a:rPr>
              <a:t>99,000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425" y="2327671"/>
            <a:ext cx="182880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1" i="0" u="none">
                <a:solidFill>
                  <a:srgbClr val="64748B"/>
                </a:solidFill>
                <a:latin typeface="Plus Jakarta Sans"/>
              </a:rPr>
              <a:t>TOTAL ORDERS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81325" y="2069603"/>
            <a:ext cx="1828800" cy="2199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2"/>
              </a:lnSpc>
            </a:pPr>
            <a:r>
              <a:rPr sz="1575" b="1" i="0" u="none">
                <a:solidFill>
                  <a:srgbClr val="0F172A"/>
                </a:solidFill>
                <a:latin typeface="Space Grotesk"/>
              </a:rPr>
              <a:t>R$ 160.99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81325" y="2327671"/>
            <a:ext cx="182880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1" i="0" u="none">
                <a:solidFill>
                  <a:srgbClr val="64748B"/>
                </a:solidFill>
                <a:latin typeface="Plus Jakarta Sans"/>
              </a:rPr>
              <a:t>AVG ORDER VALUE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425" y="2870596"/>
            <a:ext cx="266700" cy="2667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95375" y="2918221"/>
            <a:ext cx="18288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Space Grotesk"/>
              </a:rPr>
              <a:t>Payment Splits &amp; Boleto Lag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425" y="4702373"/>
            <a:ext cx="266700" cy="2667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95375" y="4749998"/>
            <a:ext cx="19335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Space Grotesk"/>
              </a:rPr>
              <a:t>Installment Multiplier &amp; Hours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5337" y="2942034"/>
            <a:ext cx="142875" cy="12382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862" y="4773810"/>
            <a:ext cx="123825" cy="12382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80F3C93C-32CB-325C-9BD6-1C4E181687B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78429" y="1264293"/>
            <a:ext cx="6359542" cy="4912222"/>
          </a:xfrm>
          <a:prstGeom prst="rect">
            <a:avLst/>
          </a:prstGeom>
          <a:effectLst>
            <a:softEdge rad="25400"/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9700" y="1201935"/>
            <a:ext cx="6477000" cy="503693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08671"/>
            <a:ext cx="4381500" cy="169842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540448"/>
            <a:ext cx="4381500" cy="169842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201935"/>
            <a:ext cx="2133600" cy="62954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19400" y="1201935"/>
            <a:ext cx="2133600" cy="62954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945778"/>
            <a:ext cx="2133600" cy="629542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19400" y="1945778"/>
            <a:ext cx="2133600" cy="62954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6334125"/>
            <a:ext cx="11049000" cy="142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62" b="0" i="0" u="none">
                <a:solidFill>
                  <a:srgbClr val="94A3B8"/>
                </a:solidFill>
                <a:latin typeface="Plus Jakarta Sans SemiBold"/>
              </a:rPr>
              <a:t>Slide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900" y="811410"/>
            <a:ext cx="108966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0" i="0" u="none">
                <a:solidFill>
                  <a:srgbClr val="475569"/>
                </a:solidFill>
                <a:latin typeface="Plus Jakarta Sans Medium"/>
              </a:rPr>
              <a:t>Decomposing transit duration, pinpointing SLA breaches, and classifying inventory health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" y="491430"/>
            <a:ext cx="38100" cy="2667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3900" y="476250"/>
            <a:ext cx="5850731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950" b="1" i="0" u="none">
                <a:solidFill>
                  <a:srgbClr val="0F172A"/>
                </a:solidFill>
                <a:latin typeface="Space Grotesk"/>
              </a:rPr>
              <a:t>Supply Chain Operations &amp; Fulfillment Latency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425" y="3251596"/>
            <a:ext cx="40576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0F172A"/>
                </a:solidFill>
                <a:latin typeface="Plus Jakarta Sans"/>
              </a:rPr>
              <a:t>Sellers consume an average of </a:t>
            </a:r>
            <a:r>
              <a:rPr sz="937" b="1" i="0" u="none">
                <a:solidFill>
                  <a:srgbClr val="0F172A"/>
                </a:solidFill>
                <a:latin typeface="Plus Jakarta Sans"/>
              </a:rPr>
              <a:t>2.71 days</a:t>
            </a:r>
            <a:r>
              <a:rPr sz="937" b="0" i="0" u="none">
                <a:solidFill>
                  <a:srgbClr val="0F172A"/>
                </a:solidFill>
                <a:latin typeface="Plus Jakarta Sans"/>
              </a:rPr>
              <a:t> packaging goods before carrier custody. Delivery couriers take public blame, but preventable delivery breaches originate with merchant dispatch latency.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3425" y="5083373"/>
            <a:ext cx="40576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0F172A"/>
                </a:solidFill>
                <a:latin typeface="Plus Jakarta Sans"/>
              </a:rPr>
              <a:t>Top 5 categories (Health &amp; Beauty, Watches, Bed &amp; Bath) drive over </a:t>
            </a:r>
            <a:r>
              <a:rPr sz="937" b="1" i="0" u="none">
                <a:solidFill>
                  <a:srgbClr val="0F172A"/>
                </a:solidFill>
                <a:latin typeface="Plus Jakarta Sans"/>
              </a:rPr>
              <a:t>54.4% of total GMV</a:t>
            </a:r>
            <a:r>
              <a:rPr sz="937" b="0" i="0" u="none">
                <a:solidFill>
                  <a:srgbClr val="0F172A"/>
                </a:solidFill>
                <a:latin typeface="Plus Jakarta Sans"/>
              </a:rPr>
              <a:t> with stable demand (AX), requiring automated continuous vendor replenishment.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425" y="1325760"/>
            <a:ext cx="1828800" cy="2199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2"/>
              </a:lnSpc>
            </a:pPr>
            <a:r>
              <a:rPr sz="1575" b="1" i="0" u="none">
                <a:solidFill>
                  <a:srgbClr val="0F172A"/>
                </a:solidFill>
                <a:latin typeface="Space Grotesk"/>
              </a:rPr>
              <a:t>12.50 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3425" y="1583828"/>
            <a:ext cx="182880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1" i="0" u="none">
                <a:solidFill>
                  <a:srgbClr val="64748B"/>
                </a:solidFill>
                <a:latin typeface="Plus Jakarta Sans"/>
              </a:rPr>
              <a:t>AVG TRANSIT DAYS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81325" y="1325760"/>
            <a:ext cx="1828800" cy="2199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2"/>
              </a:lnSpc>
            </a:pPr>
            <a:r>
              <a:rPr sz="1575" b="1" i="0" u="none">
                <a:solidFill>
                  <a:srgbClr val="DC2626"/>
                </a:solidFill>
                <a:latin typeface="Space Grotesk"/>
              </a:rPr>
              <a:t>6.57%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81325" y="1583828"/>
            <a:ext cx="182880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1" i="0" u="none">
                <a:solidFill>
                  <a:srgbClr val="64748B"/>
                </a:solidFill>
                <a:latin typeface="Plus Jakarta Sans"/>
              </a:rPr>
              <a:t>SLA BREACH 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3425" y="2069603"/>
            <a:ext cx="1828800" cy="2199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2"/>
              </a:lnSpc>
            </a:pPr>
            <a:r>
              <a:rPr sz="1575" b="1" i="0" u="none">
                <a:solidFill>
                  <a:srgbClr val="DC2626"/>
                </a:solidFill>
                <a:latin typeface="Space Grotesk"/>
              </a:rPr>
              <a:t>10.62 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425" y="2327671"/>
            <a:ext cx="182880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1" i="0" u="none">
                <a:solidFill>
                  <a:srgbClr val="64748B"/>
                </a:solidFill>
                <a:latin typeface="Plus Jakarta Sans"/>
              </a:rPr>
              <a:t>AVG DELAY IF 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81325" y="2069603"/>
            <a:ext cx="1828800" cy="2199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2"/>
              </a:lnSpc>
            </a:pPr>
            <a:r>
              <a:rPr sz="1575" b="1" i="0" u="none">
                <a:solidFill>
                  <a:srgbClr val="0F172A"/>
                </a:solidFill>
                <a:latin typeface="Space Grotesk"/>
              </a:rPr>
              <a:t>16.57%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81325" y="2327671"/>
            <a:ext cx="182880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1" i="0" u="none">
                <a:solidFill>
                  <a:srgbClr val="64748B"/>
                </a:solidFill>
                <a:latin typeface="Plus Jakarta Sans"/>
              </a:rPr>
              <a:t>FREIGHT REVENUE %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425" y="2870596"/>
            <a:ext cx="266700" cy="2667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95375" y="2918221"/>
            <a:ext cx="17716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Space Grotesk"/>
              </a:rPr>
              <a:t>The 2.71-Day Handover Lag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425" y="4702373"/>
            <a:ext cx="266700" cy="2667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95375" y="4749998"/>
            <a:ext cx="18002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Space Grotesk"/>
              </a:rPr>
              <a:t>Integrated ABC / XYZ Matrix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0575" y="2942034"/>
            <a:ext cx="152400" cy="12382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5337" y="4773810"/>
            <a:ext cx="142875" cy="12382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DC535CEC-6896-0CBB-67C3-93924629173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87987" y="1279782"/>
            <a:ext cx="6332513" cy="4875581"/>
          </a:xfrm>
          <a:prstGeom prst="rect">
            <a:avLst/>
          </a:prstGeom>
          <a:effectLst>
            <a:softEdge rad="25400"/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9700" y="1201935"/>
            <a:ext cx="6477000" cy="503693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08671"/>
            <a:ext cx="4381500" cy="169842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540448"/>
            <a:ext cx="4381500" cy="169842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201935"/>
            <a:ext cx="2133600" cy="62954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19400" y="1201935"/>
            <a:ext cx="2133600" cy="62954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945778"/>
            <a:ext cx="2133600" cy="629542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19400" y="1945778"/>
            <a:ext cx="2133600" cy="62954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6334125"/>
            <a:ext cx="11049000" cy="142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62" b="0" i="0" u="none">
                <a:solidFill>
                  <a:srgbClr val="94A3B8"/>
                </a:solidFill>
                <a:latin typeface="Plus Jakarta Sans SemiBold"/>
              </a:rPr>
              <a:t>Slide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900" y="811410"/>
            <a:ext cx="108966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0" i="0" u="none">
                <a:solidFill>
                  <a:srgbClr val="475569"/>
                </a:solidFill>
                <a:latin typeface="Plus Jakarta Sans Medium"/>
              </a:rPr>
              <a:t>Tracking the 3.12% repeat buyer bottleneck, 4-month cohort decay, and merchant compliance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" y="491430"/>
            <a:ext cx="38100" cy="2667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3900" y="476250"/>
            <a:ext cx="5650706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950" b="1" i="0" u="none">
                <a:solidFill>
                  <a:srgbClr val="0F172A"/>
                </a:solidFill>
                <a:latin typeface="Space Grotesk"/>
              </a:rPr>
              <a:t>Partner Risk &amp; Customer Retention Dynamics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425" y="3251596"/>
            <a:ext cx="40576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0F172A"/>
                </a:solidFill>
                <a:latin typeface="Plus Jakarta Sans"/>
              </a:rPr>
              <a:t>In a cohort of </a:t>
            </a:r>
            <a:r>
              <a:rPr sz="937" b="1" i="0" u="none">
                <a:solidFill>
                  <a:srgbClr val="0F172A"/>
                </a:solidFill>
                <a:latin typeface="Plus Jakarta Sans"/>
              </a:rPr>
              <a:t>2,676 first-time buyers</a:t>
            </a:r>
            <a:r>
              <a:rPr sz="937" b="0" i="0" u="none">
                <a:solidFill>
                  <a:srgbClr val="0F172A"/>
                </a:solidFill>
                <a:latin typeface="Plus Jakarta Sans"/>
              </a:rPr>
              <a:t>, only </a:t>
            </a:r>
            <a:r>
              <a:rPr sz="937" b="1" i="0" u="none">
                <a:solidFill>
                  <a:srgbClr val="0F172A"/>
                </a:solidFill>
                <a:latin typeface="Plus Jakarta Sans"/>
              </a:rPr>
              <a:t>14 return in Month 1</a:t>
            </a:r>
            <a:r>
              <a:rPr sz="937" b="0" i="0" u="none">
                <a:solidFill>
                  <a:srgbClr val="0F172A"/>
                </a:solidFill>
                <a:latin typeface="Plus Jakarta Sans"/>
              </a:rPr>
              <a:t> and </a:t>
            </a:r>
            <a:r>
              <a:rPr sz="937" b="1" i="0" u="none">
                <a:solidFill>
                  <a:srgbClr val="0F172A"/>
                </a:solidFill>
                <a:latin typeface="Plus Jakarta Sans"/>
              </a:rPr>
              <a:t>9 in Month 4</a:t>
            </a:r>
            <a:r>
              <a:rPr sz="937" b="0" i="0" u="none">
                <a:solidFill>
                  <a:srgbClr val="0F172A"/>
                </a:solidFill>
                <a:latin typeface="Plus Jakarta Sans"/>
              </a:rPr>
              <a:t>. Over 96% of buyers churn after a single purchase, turning Olist into an acquisition-dependent gateway.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3425" y="5083373"/>
            <a:ext cx="40576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0F172A"/>
                </a:solidFill>
                <a:latin typeface="Plus Jakarta Sans"/>
              </a:rPr>
              <a:t>Merchants averaging 10–20+ days handover delay suffer </a:t>
            </a:r>
            <a:r>
              <a:rPr sz="937" b="1" i="0" u="none">
                <a:solidFill>
                  <a:srgbClr val="0F172A"/>
                </a:solidFill>
                <a:latin typeface="Plus Jakarta Sans"/>
              </a:rPr>
              <a:t>40–60% cancellation rates</a:t>
            </a:r>
            <a:r>
              <a:rPr sz="937" b="0" i="0" u="none">
                <a:solidFill>
                  <a:srgbClr val="0F172A"/>
                </a:solidFill>
                <a:latin typeface="Plus Jakarta Sans"/>
              </a:rPr>
              <a:t>. RFM isolates </a:t>
            </a:r>
            <a:r>
              <a:rPr sz="937" b="1" i="0" u="none">
                <a:solidFill>
                  <a:srgbClr val="0F172A"/>
                </a:solidFill>
                <a:latin typeface="Plus Jakarta Sans"/>
              </a:rPr>
              <a:t>66.18K Hibernating Testers</a:t>
            </a:r>
            <a:r>
              <a:rPr sz="937" b="0" i="0" u="none">
                <a:solidFill>
                  <a:srgbClr val="0F172A"/>
                </a:solidFill>
                <a:latin typeface="Plus Jakarta Sans"/>
              </a:rPr>
              <a:t> vs 2.91K Champions to focus retention capital.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425" y="1325760"/>
            <a:ext cx="1828800" cy="2199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2"/>
              </a:lnSpc>
            </a:pPr>
            <a:r>
              <a:rPr sz="1575" b="1" i="0" u="none">
                <a:solidFill>
                  <a:srgbClr val="0F172A"/>
                </a:solidFill>
                <a:latin typeface="Space Grotesk"/>
              </a:rPr>
              <a:t>R$ 166.59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3425" y="1583828"/>
            <a:ext cx="182880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1" i="0" u="none">
                <a:solidFill>
                  <a:srgbClr val="64748B"/>
                </a:solidFill>
                <a:latin typeface="Plus Jakarta Sans"/>
              </a:rPr>
              <a:t>CUSTOMER LIFETIME 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81325" y="1325760"/>
            <a:ext cx="1828800" cy="2199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2"/>
              </a:lnSpc>
            </a:pPr>
            <a:r>
              <a:rPr sz="1575" b="1" i="0" u="none">
                <a:solidFill>
                  <a:srgbClr val="DC2626"/>
                </a:solidFill>
                <a:latin typeface="Space Grotesk"/>
              </a:rPr>
              <a:t>3.12%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81325" y="1583828"/>
            <a:ext cx="182880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1" i="0" u="none">
                <a:solidFill>
                  <a:srgbClr val="64748B"/>
                </a:solidFill>
                <a:latin typeface="Plus Jakarta Sans"/>
              </a:rPr>
              <a:t>REPEAT BUYER 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3425" y="2069603"/>
            <a:ext cx="1828800" cy="2199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2"/>
              </a:lnSpc>
            </a:pPr>
            <a:r>
              <a:rPr sz="1575" b="1" i="0" u="none">
                <a:solidFill>
                  <a:srgbClr val="0F172A"/>
                </a:solidFill>
                <a:latin typeface="Space Grotesk"/>
              </a:rPr>
              <a:t>4.09 /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425" y="2327671"/>
            <a:ext cx="182880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1" i="0" u="none">
                <a:solidFill>
                  <a:srgbClr val="64748B"/>
                </a:solidFill>
                <a:latin typeface="Plus Jakarta Sans"/>
              </a:rPr>
              <a:t>AVG REVIEW RATING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81325" y="2069603"/>
            <a:ext cx="1828800" cy="2199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2"/>
              </a:lnSpc>
            </a:pPr>
            <a:r>
              <a:rPr sz="1575" b="1" i="0" u="none">
                <a:solidFill>
                  <a:srgbClr val="0F172A"/>
                </a:solidFill>
                <a:latin typeface="Space Grotesk"/>
              </a:rPr>
              <a:t>3,000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81325" y="2327671"/>
            <a:ext cx="182880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1" i="0" u="none">
                <a:solidFill>
                  <a:srgbClr val="64748B"/>
                </a:solidFill>
                <a:latin typeface="Plus Jakarta Sans"/>
              </a:rPr>
              <a:t>ACTIVE SELLERS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425" y="2870596"/>
            <a:ext cx="266700" cy="2667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95375" y="2918221"/>
            <a:ext cx="13716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Space Grotesk"/>
              </a:rPr>
              <a:t>Severe Cohort Decay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425" y="4702373"/>
            <a:ext cx="266700" cy="2667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95375" y="4749998"/>
            <a:ext cx="14382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Space Grotesk"/>
              </a:rPr>
              <a:t>Seller Risk &amp; RFM Tiers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0575" y="4773810"/>
            <a:ext cx="152400" cy="12382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DFFACB6E-3CA4-808C-C933-26DD6FB4AD9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83172" y="1252532"/>
            <a:ext cx="6350057" cy="4935744"/>
          </a:xfrm>
          <a:prstGeom prst="rect">
            <a:avLst/>
          </a:prstGeom>
          <a:effectLst>
            <a:softEdge rad="25400"/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201935"/>
            <a:ext cx="5391150" cy="503693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350" y="1201935"/>
            <a:ext cx="5391150" cy="503693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7475" y="5705475"/>
            <a:ext cx="4914900" cy="2952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6334125"/>
            <a:ext cx="11049000" cy="142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62" b="0" i="0" u="none">
                <a:solidFill>
                  <a:srgbClr val="94A3B8"/>
                </a:solidFill>
                <a:latin typeface="Plus Jakarta Sans SemiBold"/>
              </a:rPr>
              <a:t>Slide 7 of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811410"/>
            <a:ext cx="108966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0" i="0" u="none">
                <a:solidFill>
                  <a:srgbClr val="475569"/>
                </a:solidFill>
                <a:latin typeface="Plus Jakarta Sans Medium"/>
              </a:rPr>
              <a:t>Engineering volumetric density and interstate route pairs into optimized ensemble regressors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491430"/>
            <a:ext cx="38100" cy="2667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3900" y="476250"/>
            <a:ext cx="6520815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950" b="1" i="0" u="none">
                <a:solidFill>
                  <a:srgbClr val="0F172A"/>
                </a:solidFill>
                <a:latin typeface="Space Grotesk"/>
              </a:rPr>
              <a:t>Predictive Machine Learning: Freight Pricing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7475" y="1859160"/>
            <a:ext cx="49149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F172A"/>
                </a:solidFill>
                <a:latin typeface="Plus Jakarta Sans"/>
              </a:rPr>
              <a:t>Benchmarked multiple regression architectures using 5-fold cross-validation with RandomizedSearchCV: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67475" y="2430660"/>
          <a:ext cx="4914899" cy="24875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33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58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45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7502">
                <a:tc>
                  <a:txBody>
                    <a:bodyPr/>
                    <a:lstStyle/>
                    <a:p>
                      <a:pPr algn="l"/>
                      <a:r>
                        <a:rPr sz="8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Algorithm Evaluated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R² Score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Performance Remarks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502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Linear Regression (Baseline)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0.54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Fails to capture non-linear rate boundaries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502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Random Forest (RF)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0.72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Strong non-linear capture across volume tiers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502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Gradient Boosting (GB)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0.72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Robust tree boosting over spatial pairs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505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XGBoost Regressor (XGB)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0.73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Selected • Best predictive precision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467475" y="5089624"/>
            <a:ext cx="49149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0F172A"/>
                </a:solidFill>
                <a:latin typeface="Plus Jakarta Sans"/>
              </a:rPr>
              <a:t>The ensemble gradient-boosted trees explain 73% of the freight variance across complex interstate transport routes.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1440060"/>
            <a:ext cx="304800" cy="304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09674" y="1501973"/>
            <a:ext cx="3304573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1200" dirty="0">
                <a:solidFill>
                  <a:srgbClr val="0F172A"/>
                </a:solidFill>
                <a:latin typeface="Poppins SemiBold"/>
              </a:rPr>
              <a:t>Feature Engineering &amp; Preprocessing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7475" y="1440060"/>
            <a:ext cx="304800" cy="304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867525" y="1501973"/>
            <a:ext cx="21431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Space Grotesk"/>
              </a:rPr>
              <a:t>Model Benchmarks &amp; Selection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5350" y="1525785"/>
            <a:ext cx="133350" cy="1333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3675" y="1525785"/>
            <a:ext cx="152400" cy="13335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6467475" y="3389709"/>
            <a:ext cx="166330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130778" y="3389709"/>
            <a:ext cx="7058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836669" y="3389709"/>
            <a:ext cx="254570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467475" y="3962995"/>
            <a:ext cx="166330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130778" y="3962995"/>
            <a:ext cx="7058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836669" y="3962995"/>
            <a:ext cx="254570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467475" y="4330600"/>
            <a:ext cx="166330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130778" y="4330600"/>
            <a:ext cx="7058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836669" y="4330600"/>
            <a:ext cx="254570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467475" y="4903886"/>
            <a:ext cx="166330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130778" y="4903886"/>
            <a:ext cx="7058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836669" y="4903886"/>
            <a:ext cx="254570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9">
            <a:extLst>
              <a:ext uri="{FF2B5EF4-FFF2-40B4-BE49-F238E27FC236}">
                <a16:creationId xmlns:a16="http://schemas.microsoft.com/office/drawing/2014/main" id="{85C1E0B6-35E8-7BB3-4D04-1DDC3559BE79}"/>
              </a:ext>
            </a:extLst>
          </p:cNvPr>
          <p:cNvSpPr txBox="1"/>
          <p:nvPr/>
        </p:nvSpPr>
        <p:spPr>
          <a:xfrm>
            <a:off x="981075" y="1833317"/>
            <a:ext cx="4857750" cy="4336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794"/>
              </a:lnSpc>
            </a:pPr>
            <a:r>
              <a:rPr sz="1087" b="0" i="0" u="none" dirty="0">
                <a:solidFill>
                  <a:srgbClr val="475569"/>
                </a:solidFill>
                <a:latin typeface="Lato"/>
              </a:rPr>
              <a:t>Extracted and joined 6 core attributes across customer, seller, product, and geolocation relational tables:</a:t>
            </a:r>
            <a:endParaRPr lang="en-IN" sz="1087" b="0" i="0" u="none" dirty="0">
              <a:solidFill>
                <a:srgbClr val="475569"/>
              </a:solidFill>
              <a:latin typeface="Lato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757CF1C8-B5D9-ED34-1B08-DA3014F9AB5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2025" y="2430660"/>
            <a:ext cx="981075" cy="26670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827C93E4-5A45-0B17-2D85-8FE74F4BD0B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19300" y="2430660"/>
            <a:ext cx="1228725" cy="26670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67ED8788-F80D-9630-60CF-95F7007E6FC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24225" y="2430660"/>
            <a:ext cx="1028700" cy="26670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F53A9489-4F33-42A3-D634-CDBCBCE474A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29125" y="2430660"/>
            <a:ext cx="1390650" cy="26670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74C2A85A-3A7F-ACE4-672A-EF1EBD93037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2025" y="2773560"/>
            <a:ext cx="1009650" cy="266700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41765243-A683-0812-8AE5-27628DDD648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47875" y="2773560"/>
            <a:ext cx="523875" cy="266700"/>
          </a:xfrm>
          <a:prstGeom prst="rect">
            <a:avLst/>
          </a:prstGeom>
        </p:spPr>
      </p:pic>
      <p:sp>
        <p:nvSpPr>
          <p:cNvPr id="46" name="TextBox 21">
            <a:extLst>
              <a:ext uri="{FF2B5EF4-FFF2-40B4-BE49-F238E27FC236}">
                <a16:creationId xmlns:a16="http://schemas.microsoft.com/office/drawing/2014/main" id="{09A673ED-1093-3EAB-6E62-2195063BEC4D}"/>
              </a:ext>
            </a:extLst>
          </p:cNvPr>
          <p:cNvSpPr txBox="1"/>
          <p:nvPr/>
        </p:nvSpPr>
        <p:spPr>
          <a:xfrm>
            <a:off x="1170667" y="3323095"/>
            <a:ext cx="4667250" cy="4101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679"/>
              </a:lnSpc>
            </a:pPr>
            <a:r>
              <a:rPr sz="1050" b="1" i="0" u="none" dirty="0">
                <a:solidFill>
                  <a:srgbClr val="0F172A"/>
                </a:solidFill>
                <a:latin typeface="Lato"/>
              </a:rPr>
              <a:t>Haversine Distance (</a:t>
            </a:r>
            <a:r>
              <a:rPr sz="1050" b="1" i="0" u="none" dirty="0" err="1">
                <a:solidFill>
                  <a:srgbClr val="0F172A"/>
                </a:solidFill>
                <a:latin typeface="Lato"/>
              </a:rPr>
              <a:t>distance_km</a:t>
            </a:r>
            <a:r>
              <a:rPr sz="1050" b="1" i="0" u="none" dirty="0">
                <a:solidFill>
                  <a:srgbClr val="0F172A"/>
                </a:solidFill>
                <a:latin typeface="Lato"/>
              </a:rPr>
              <a:t>):</a:t>
            </a:r>
            <a:r>
              <a:rPr sz="1050" b="0" i="0" u="none" dirty="0">
                <a:solidFill>
                  <a:srgbClr val="334155"/>
                </a:solidFill>
                <a:latin typeface="Lato"/>
              </a:rPr>
              <a:t> Calculated spherical geodesic transit distance in kilometers between seller and customer </a:t>
            </a:r>
            <a:r>
              <a:rPr sz="1050" b="0" i="0" u="none" dirty="0" err="1">
                <a:solidFill>
                  <a:srgbClr val="334155"/>
                </a:solidFill>
                <a:latin typeface="Lato"/>
              </a:rPr>
              <a:t>lat</a:t>
            </a:r>
            <a:r>
              <a:rPr sz="1050" b="0" i="0" u="none" dirty="0">
                <a:solidFill>
                  <a:srgbClr val="334155"/>
                </a:solidFill>
                <a:latin typeface="Lato"/>
              </a:rPr>
              <a:t>/long coordinates.</a:t>
            </a:r>
          </a:p>
        </p:txBody>
      </p:sp>
      <p:sp>
        <p:nvSpPr>
          <p:cNvPr id="47" name="TextBox 22">
            <a:extLst>
              <a:ext uri="{FF2B5EF4-FFF2-40B4-BE49-F238E27FC236}">
                <a16:creationId xmlns:a16="http://schemas.microsoft.com/office/drawing/2014/main" id="{235C064F-82E4-4DEB-B197-55AA652DEF2D}"/>
              </a:ext>
            </a:extLst>
          </p:cNvPr>
          <p:cNvSpPr txBox="1"/>
          <p:nvPr/>
        </p:nvSpPr>
        <p:spPr>
          <a:xfrm>
            <a:off x="1170667" y="4000003"/>
            <a:ext cx="4667250" cy="4101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679"/>
              </a:lnSpc>
            </a:pPr>
            <a:r>
              <a:rPr sz="1050" b="1" i="0" u="none" dirty="0">
                <a:solidFill>
                  <a:srgbClr val="0F172A"/>
                </a:solidFill>
                <a:latin typeface="Lato"/>
              </a:rPr>
              <a:t>Product Volume (volume_cm3):</a:t>
            </a:r>
            <a:r>
              <a:rPr sz="1050" b="0" i="0" u="none" dirty="0">
                <a:solidFill>
                  <a:srgbClr val="334155"/>
                </a:solidFill>
                <a:latin typeface="Lato"/>
              </a:rPr>
              <a:t> Derived 3D packaging space</a:t>
            </a:r>
            <a:endParaRPr lang="en-US" sz="1050" b="0" i="0" u="none" dirty="0">
              <a:solidFill>
                <a:srgbClr val="334155"/>
              </a:solidFill>
              <a:latin typeface="Lato"/>
            </a:endParaRPr>
          </a:p>
          <a:p>
            <a:pPr algn="l">
              <a:lnSpc>
                <a:spcPts val="1679"/>
              </a:lnSpc>
            </a:pPr>
            <a:r>
              <a:rPr lang="en-IN" sz="1050" dirty="0">
                <a:solidFill>
                  <a:srgbClr val="334155"/>
                </a:solidFill>
                <a:latin typeface="Lato"/>
              </a:rPr>
              <a:t>	</a:t>
            </a:r>
            <a:r>
              <a:rPr sz="1050" b="0" i="0" u="none" dirty="0">
                <a:solidFill>
                  <a:srgbClr val="334155"/>
                </a:solidFill>
                <a:latin typeface="Lato"/>
              </a:rPr>
              <a:t> (Length </a:t>
            </a:r>
            <a:r>
              <a:rPr lang="en-US" sz="1050" b="0" i="0" u="none" dirty="0">
                <a:solidFill>
                  <a:srgbClr val="334155"/>
                </a:solidFill>
                <a:latin typeface="Lato"/>
              </a:rPr>
              <a:t>*</a:t>
            </a:r>
            <a:r>
              <a:rPr sz="1050" b="0" i="0" u="none" dirty="0">
                <a:solidFill>
                  <a:srgbClr val="334155"/>
                </a:solidFill>
                <a:latin typeface="Lato"/>
              </a:rPr>
              <a:t> Height</a:t>
            </a:r>
            <a:r>
              <a:rPr lang="en-US" sz="1050" b="0" i="0" u="none" dirty="0">
                <a:solidFill>
                  <a:srgbClr val="334155"/>
                </a:solidFill>
                <a:latin typeface="Lato"/>
              </a:rPr>
              <a:t> * </a:t>
            </a:r>
            <a:r>
              <a:rPr sz="1050" b="0" i="0" u="none" dirty="0">
                <a:solidFill>
                  <a:srgbClr val="334155"/>
                </a:solidFill>
                <a:latin typeface="Lato"/>
              </a:rPr>
              <a:t>Width) in cubic centimeters.</a:t>
            </a:r>
          </a:p>
        </p:txBody>
      </p:sp>
      <p:sp>
        <p:nvSpPr>
          <p:cNvPr id="48" name="TextBox 23">
            <a:extLst>
              <a:ext uri="{FF2B5EF4-FFF2-40B4-BE49-F238E27FC236}">
                <a16:creationId xmlns:a16="http://schemas.microsoft.com/office/drawing/2014/main" id="{D14479EE-F437-6CDC-F7FD-153425CCBFA1}"/>
              </a:ext>
            </a:extLst>
          </p:cNvPr>
          <p:cNvSpPr txBox="1"/>
          <p:nvPr/>
        </p:nvSpPr>
        <p:spPr>
          <a:xfrm>
            <a:off x="1170667" y="4656149"/>
            <a:ext cx="4667250" cy="639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679"/>
              </a:lnSpc>
            </a:pPr>
            <a:r>
              <a:rPr sz="1050" b="1" i="0" u="none">
                <a:solidFill>
                  <a:srgbClr val="0F172A"/>
                </a:solidFill>
                <a:latin typeface="Lato"/>
              </a:rPr>
              <a:t>Scikit-Learn Pipeline:</a:t>
            </a:r>
            <a:r>
              <a:rPr sz="1050" b="0" i="0" u="none">
                <a:solidFill>
                  <a:srgbClr val="334155"/>
                </a:solidFill>
                <a:latin typeface="Lato"/>
              </a:rPr>
              <a:t> Categorical state pair variables transformed with </a:t>
            </a:r>
            <a:r>
              <a:rPr sz="1050" b="1" i="0" u="none">
                <a:solidFill>
                  <a:srgbClr val="0F172A"/>
                </a:solidFill>
                <a:latin typeface="Lato"/>
              </a:rPr>
              <a:t>One-Hot Encoding</a:t>
            </a:r>
            <a:r>
              <a:rPr sz="1050" b="0" i="0" u="none">
                <a:solidFill>
                  <a:srgbClr val="334155"/>
                </a:solidFill>
                <a:latin typeface="Lato"/>
              </a:rPr>
              <a:t>; numerical distributions normalized with </a:t>
            </a:r>
            <a:r>
              <a:rPr sz="1050" b="1" i="0" u="none">
                <a:solidFill>
                  <a:srgbClr val="0F172A"/>
                </a:solidFill>
                <a:latin typeface="Lato"/>
              </a:rPr>
              <a:t>RobustScaler</a:t>
            </a:r>
            <a:r>
              <a:rPr sz="1050" b="0" i="0" u="none">
                <a:solidFill>
                  <a:srgbClr val="334155"/>
                </a:solidFill>
                <a:latin typeface="Lato"/>
              </a:rPr>
              <a:t> to neutralize heavy-tailed outliers.</a:t>
            </a:r>
          </a:p>
        </p:txBody>
      </p:sp>
      <p:sp>
        <p:nvSpPr>
          <p:cNvPr id="49" name="TextBox 28">
            <a:extLst>
              <a:ext uri="{FF2B5EF4-FFF2-40B4-BE49-F238E27FC236}">
                <a16:creationId xmlns:a16="http://schemas.microsoft.com/office/drawing/2014/main" id="{9DD06BC7-2A72-A536-DEEF-16F14E4C24DD}"/>
              </a:ext>
            </a:extLst>
          </p:cNvPr>
          <p:cNvSpPr txBox="1"/>
          <p:nvPr/>
        </p:nvSpPr>
        <p:spPr>
          <a:xfrm>
            <a:off x="980167" y="3990478"/>
            <a:ext cx="47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800"/>
              </a:lnSpc>
            </a:pPr>
            <a:r>
              <a:rPr sz="1125" b="0" i="0" u="none" dirty="0">
                <a:solidFill>
                  <a:srgbClr val="0284C7"/>
                </a:solidFill>
                <a:latin typeface="Lato"/>
              </a:rPr>
              <a:t>▪</a:t>
            </a:r>
          </a:p>
        </p:txBody>
      </p:sp>
      <p:sp>
        <p:nvSpPr>
          <p:cNvPr id="59" name="TextBox 28">
            <a:extLst>
              <a:ext uri="{FF2B5EF4-FFF2-40B4-BE49-F238E27FC236}">
                <a16:creationId xmlns:a16="http://schemas.microsoft.com/office/drawing/2014/main" id="{A6F8BFD9-BEB8-980C-4C70-B92A0F6C9103}"/>
              </a:ext>
            </a:extLst>
          </p:cNvPr>
          <p:cNvSpPr txBox="1"/>
          <p:nvPr/>
        </p:nvSpPr>
        <p:spPr>
          <a:xfrm>
            <a:off x="980166" y="4644837"/>
            <a:ext cx="47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800"/>
              </a:lnSpc>
            </a:pPr>
            <a:r>
              <a:rPr sz="1125" b="0" i="0" u="none" dirty="0">
                <a:solidFill>
                  <a:srgbClr val="0284C7"/>
                </a:solidFill>
                <a:latin typeface="Lato"/>
              </a:rPr>
              <a:t>▪</a:t>
            </a:r>
          </a:p>
        </p:txBody>
      </p:sp>
      <p:sp>
        <p:nvSpPr>
          <p:cNvPr id="61" name="TextBox 28">
            <a:extLst>
              <a:ext uri="{FF2B5EF4-FFF2-40B4-BE49-F238E27FC236}">
                <a16:creationId xmlns:a16="http://schemas.microsoft.com/office/drawing/2014/main" id="{2EEAE217-1ECC-A38E-4C95-06504FA8441A}"/>
              </a:ext>
            </a:extLst>
          </p:cNvPr>
          <p:cNvSpPr txBox="1"/>
          <p:nvPr/>
        </p:nvSpPr>
        <p:spPr>
          <a:xfrm>
            <a:off x="968035" y="3314700"/>
            <a:ext cx="47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800"/>
              </a:lnSpc>
            </a:pPr>
            <a:r>
              <a:rPr sz="1125" b="0" i="0" u="none" dirty="0">
                <a:solidFill>
                  <a:srgbClr val="0284C7"/>
                </a:solidFill>
                <a:latin typeface="Lato"/>
              </a:rPr>
              <a:t>▪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201935"/>
            <a:ext cx="5014912" cy="503693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3112" y="1201935"/>
            <a:ext cx="5767238" cy="503693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5705475"/>
            <a:ext cx="4538662" cy="2952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1237" y="1878410"/>
            <a:ext cx="5290988" cy="552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1237" y="2824493"/>
            <a:ext cx="5290988" cy="723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1237" y="3990158"/>
            <a:ext cx="5290988" cy="7239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5062" y="1982985"/>
            <a:ext cx="209550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5062" y="2948318"/>
            <a:ext cx="209550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5062" y="4113983"/>
            <a:ext cx="209550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6334125"/>
            <a:ext cx="11049000" cy="142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62" b="0" i="0" u="none">
                <a:solidFill>
                  <a:srgbClr val="94A3B8"/>
                </a:solidFill>
                <a:latin typeface="Plus Jakarta Sans SemiBold"/>
              </a:rPr>
              <a:t>Slide 8 of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900" y="811410"/>
            <a:ext cx="108966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0" i="0" u="none">
                <a:solidFill>
                  <a:srgbClr val="475569"/>
                </a:solidFill>
                <a:latin typeface="Plus Jakarta Sans Medium"/>
              </a:rPr>
              <a:t>Operationalizing live predictive analytics and delivering data-backed supply chain directives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" y="491430"/>
            <a:ext cx="38100" cy="2667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3900" y="476250"/>
            <a:ext cx="5480685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950" b="1" i="0" u="none">
                <a:solidFill>
                  <a:srgbClr val="0F172A"/>
                </a:solidFill>
                <a:latin typeface="Space Grotesk"/>
              </a:rPr>
              <a:t>Streamlit Deployment &amp; Strategic Roadmap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625" y="1859160"/>
            <a:ext cx="4538662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F172A"/>
                </a:solidFill>
                <a:latin typeface="Plus Jakarta Sans"/>
              </a:rPr>
              <a:t>Deployed an interactive, multi-module web interface for cross-functional operational stakeholders: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9625" y="1440060"/>
            <a:ext cx="304800" cy="304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09675" y="1501973"/>
            <a:ext cx="21145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Space Grotesk"/>
              </a:rPr>
              <a:t>Streamlit Application Modules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1075" y="2373510"/>
            <a:ext cx="4367212" cy="3836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1" i="0" u="none">
                <a:solidFill>
                  <a:srgbClr val="0F172A"/>
                </a:solidFill>
                <a:latin typeface="Plus Jakarta Sans"/>
              </a:rPr>
              <a:t>Module 1 — Schema Explorer:</a:t>
            </a:r>
            <a:r>
              <a:rPr sz="975" b="0" i="0" u="none">
                <a:solidFill>
                  <a:srgbClr val="334155"/>
                </a:solidFill>
                <a:latin typeface="Plus Jakarta Sans"/>
              </a:rPr>
              <a:t> Audit relational tables, inspect data types, and run ad-hoc SQL validation queries.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1075" y="2852439"/>
            <a:ext cx="4367212" cy="3836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1" i="0" u="none">
                <a:solidFill>
                  <a:srgbClr val="0F172A"/>
                </a:solidFill>
                <a:latin typeface="Plus Jakarta Sans"/>
              </a:rPr>
              <a:t>Module 2 — Analytics Hub:</a:t>
            </a:r>
            <a:r>
              <a:rPr sz="975" b="0" i="0" u="none">
                <a:solidFill>
                  <a:srgbClr val="334155"/>
                </a:solidFill>
                <a:latin typeface="Plus Jakarta Sans"/>
              </a:rPr>
              <a:t> Interactive Plotly visualizations for RFM clusters, ABC Pareto curves, and cohort retention.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1075" y="3331368"/>
            <a:ext cx="4367212" cy="5755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1" i="0" u="none">
                <a:solidFill>
                  <a:srgbClr val="0F172A"/>
                </a:solidFill>
                <a:latin typeface="Plus Jakarta Sans"/>
              </a:rPr>
              <a:t>Module 3 — Live Freight Estimator:</a:t>
            </a:r>
            <a:r>
              <a:rPr sz="975" b="0" i="0" u="none">
                <a:solidFill>
                  <a:srgbClr val="334155"/>
                </a:solidFill>
                <a:latin typeface="Plus Jakarta Sans"/>
              </a:rPr>
              <a:t> Real-time checkout quoter taking parcel dimensions and origin-destination states to output instant shipping fees.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1237" y="1440060"/>
            <a:ext cx="304800" cy="304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91287" y="1501973"/>
            <a:ext cx="18383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Space Grotesk"/>
              </a:rPr>
              <a:t>Three Strategic Directives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5350" y="1525785"/>
            <a:ext cx="133350" cy="1333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09625" y="2363985"/>
            <a:ext cx="476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0" i="0" u="none">
                <a:solidFill>
                  <a:srgbClr val="0284C7"/>
                </a:solidFill>
                <a:latin typeface="Plus Jakarta Sans"/>
              </a:rPr>
              <a:t>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625" y="2842914"/>
            <a:ext cx="476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0" i="0" u="none">
                <a:solidFill>
                  <a:srgbClr val="0284C7"/>
                </a:solidFill>
                <a:latin typeface="Plus Jakarta Sans"/>
              </a:rPr>
              <a:t>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625" y="3321843"/>
            <a:ext cx="476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0" i="0" u="none">
                <a:solidFill>
                  <a:srgbClr val="0284C7"/>
                </a:solidFill>
                <a:latin typeface="Plus Jakarta Sans"/>
              </a:rPr>
              <a:t>▪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76962" y="1525785"/>
            <a:ext cx="133350" cy="1333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538912" y="1983185"/>
            <a:ext cx="4719488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i="0" u="none">
                <a:solidFill>
                  <a:srgbClr val="334155"/>
                </a:solidFill>
                <a:latin typeface="Plus Jakarta Sans"/>
              </a:rPr>
              <a:t>Enforce 24-Hour Seller Handover SLAs:</a:t>
            </a:r>
            <a:r>
              <a:rPr sz="900" b="0" i="0" u="none">
                <a:solidFill>
                  <a:srgbClr val="334155"/>
                </a:solidFill>
                <a:latin typeface="Plus Jakarta Sans"/>
              </a:rPr>
              <a:t> Tackling the 2.71-day merchant packaging delay eliminates the primary root cause pushing deliveries past promised SLA deadlines.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8912" y="2929268"/>
            <a:ext cx="4719488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i="0" u="none">
                <a:solidFill>
                  <a:srgbClr val="334155"/>
                </a:solidFill>
                <a:latin typeface="Plus Jakarta Sans"/>
              </a:rPr>
              <a:t>Automate RFM Replenishment Loops:</a:t>
            </a:r>
            <a:r>
              <a:rPr sz="900" b="0" i="0" u="none">
                <a:solidFill>
                  <a:srgbClr val="334155"/>
                </a:solidFill>
                <a:latin typeface="Plus Jakarta Sans"/>
              </a:rPr>
              <a:t> Target the 2.91K Champions and 17.69K Core buyers in high-frequency verticals (Health &amp; Beauty, Bed &amp; Bath) to lift the 3.12% repeat rate baseline.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8912" y="4094933"/>
            <a:ext cx="4719488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i="0" u="none" dirty="0">
                <a:solidFill>
                  <a:srgbClr val="334155"/>
                </a:solidFill>
                <a:latin typeface="Plus Jakarta Sans"/>
              </a:rPr>
              <a:t>Embed Live Freight Quoting at Checkout:</a:t>
            </a:r>
            <a:r>
              <a:rPr sz="900" b="0" i="0" u="none" dirty="0">
                <a:solidFill>
                  <a:srgbClr val="334155"/>
                </a:solidFill>
                <a:latin typeface="Plus Jakarta Sans"/>
              </a:rPr>
              <a:t> Deploy the </a:t>
            </a:r>
            <a:r>
              <a:rPr sz="900" b="0" i="0" u="none" dirty="0" err="1">
                <a:solidFill>
                  <a:srgbClr val="334155"/>
                </a:solidFill>
                <a:latin typeface="Plus Jakarta Sans"/>
              </a:rPr>
              <a:t>XGBoost</a:t>
            </a:r>
            <a:r>
              <a:rPr sz="900" b="0" i="0" u="none" dirty="0">
                <a:solidFill>
                  <a:srgbClr val="334155"/>
                </a:solidFill>
                <a:latin typeface="Plus Jakarta Sans"/>
              </a:rPr>
              <a:t> predictive model directly into checkout pages to eliminate shipping price opacity and prevent cart abandonment.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1163</Words>
  <Application>Microsoft Office PowerPoint</Application>
  <PresentationFormat>Widescreen</PresentationFormat>
  <Paragraphs>137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Arial</vt:lpstr>
      <vt:lpstr>Calibri</vt:lpstr>
      <vt:lpstr>Lato</vt:lpstr>
      <vt:lpstr>Plus Jakarta Sans</vt:lpstr>
      <vt:lpstr>Plus Jakarta Sans Medium</vt:lpstr>
      <vt:lpstr>Plus Jakarta Sans SemiBold</vt:lpstr>
      <vt:lpstr>Poppins SemiBold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Ankit Sheoran</cp:lastModifiedBy>
  <cp:revision>6</cp:revision>
  <dcterms:created xsi:type="dcterms:W3CDTF">2013-01-27T09:14:16Z</dcterms:created>
  <dcterms:modified xsi:type="dcterms:W3CDTF">2026-10-20T07:31:52Z</dcterms:modified>
  <cp:category/>
</cp:coreProperties>
</file>