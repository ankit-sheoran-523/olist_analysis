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9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1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5" Type="http://schemas.openxmlformats.org/officeDocument/2006/relationships/image" Target="../media/image43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10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1 of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19775" y="2270373"/>
            <a:ext cx="552450" cy="4286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93430" y="2598985"/>
            <a:ext cx="8605138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sz="3300" b="1" i="0" u="none">
                <a:solidFill>
                  <a:srgbClr val="0F172A"/>
                </a:solidFill>
                <a:latin typeface="Poppins"/>
              </a:rPr>
              <a:t>Olist Marketplace Logistics Intelligence</a:t>
            </a:r>
            <a:r>
              <a:t>
</a:t>
            </a:r>
            <a:r>
              <a:rPr sz="3300" b="1" i="0" u="none">
                <a:solidFill>
                  <a:srgbClr val="0284C7"/>
                </a:solidFill>
                <a:latin typeface="Poppins"/>
              </a:rPr>
              <a:t>&amp; Predictive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75335"/>
            <a:ext cx="7620000" cy="550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7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An end-to-end data pipeline: Relational SQL modeling, operational Power BI tracking, customer and inventory behavioral analytics, and real-time ML freight price estimation.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35260"/>
            <a:ext cx="5448300" cy="514171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35260"/>
            <a:ext cx="5448300" cy="51417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467350"/>
            <a:ext cx="485775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5619750"/>
            <a:ext cx="485775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2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Operating hurdles across the decentralized marketplace and structured technical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6750" y="419100"/>
            <a:ext cx="289583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Project Goals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1411485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Business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811535"/>
            <a:ext cx="4857750" cy="4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4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Olist connects thousands of independent sellers across Brazil, but logistical friction impairs platform growth and repeat buyer trust: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1411485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Sequential Technical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1811535"/>
            <a:ext cx="4857750" cy="4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4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Architected a structured 4-stage engineering workflow to systematically address each friction point: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457747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Delivery SLA Breaches: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Severe interstate transit delays cause customer review scores to collapse.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017639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Freight Fee Volatility: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Unpredictable regional delivery fees lead to cart abandonment at checkout.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577530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Customer Churn: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Marketplace functions heavily as an acquisition-dependent single-purchase channel.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2457747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SQL Modeling: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Enforce relational integrity, fix join fan-out, and disambiguate customer identities.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3017639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Power BI Reporting: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Deploy an executive dashboard suite tracking GMV, SLA breaches, and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3577530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Python Analytics: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Perform RFM segmentation, ABC/XYZ Pareto curves, and basket affinity mining.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4137421"/>
            <a:ext cx="46672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ML Deployment: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Train gradient-boosted models and deploy a live Streamlit quoter.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448222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008114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356800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2448222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008114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356800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4127896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35260"/>
            <a:ext cx="3581400" cy="514171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1135260"/>
            <a:ext cx="3581400" cy="51417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135260"/>
            <a:ext cx="3581400" cy="51417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5705475"/>
            <a:ext cx="3143250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5705475"/>
            <a:ext cx="314325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5705475"/>
            <a:ext cx="3143250" cy="333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3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Automated Python ingestion, relational join fixes, and core analytics extracted in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750" y="419100"/>
            <a:ext cx="4694805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Data Engineering &amp; SQL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1868685"/>
            <a:ext cx="3143250" cy="60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Direct CSV imports failed due to memory timeouts across 100k records. Built a streaming Python pipeline with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pymysql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to sanitize and load all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4375" y="1868685"/>
            <a:ext cx="3143250" cy="60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Joining multi-item orders with split installment payments caused a Cartesian fan-out error, falsely inflating reported revenues by 200–300%.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1868685"/>
            <a:ext cx="3143250" cy="60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Engineered baseline metrics and operational supply chain models directly inside MySQL before passing data to Power BI: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373385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625" y="1421010"/>
            <a:ext cx="266938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Automated Ingestion &amp;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668637"/>
            <a:ext cx="29527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Enforced Foreign Keys across all 8 relational tables.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974776"/>
            <a:ext cx="2952750" cy="393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Discovered and patched missing category translations (pc_gamer and food prep appliances).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375" y="1373385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81575" y="1421010"/>
            <a:ext cx="250090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Relational Join &amp; Identity Fixes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875" y="2668637"/>
            <a:ext cx="29527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Lato"/>
              </a:rPr>
              <a:t>Decoupled CTEs:</a:t>
            </a:r>
            <a:r>
              <a:rPr sz="975" b="0" i="0" u="none">
                <a:solidFill>
                  <a:srgbClr val="334155"/>
                </a:solidFill>
                <a:latin typeface="Lato"/>
              </a:rPr>
              <a:t> Pre-aggregated line items and payment methods independently before final joins.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4875" y="3166616"/>
            <a:ext cx="2952750" cy="393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Lato"/>
              </a:rPr>
              <a:t>Entity Disambiguation:</a:t>
            </a:r>
            <a:r>
              <a:rPr sz="975" b="0" i="0" u="none">
                <a:solidFill>
                  <a:srgbClr val="334155"/>
                </a:solidFill>
                <a:latin typeface="Lato"/>
              </a:rPr>
              <a:t> Mapped temporary keys (cust_id) to real identities (cust_unique_id).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325" y="1373385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72525" y="1421010"/>
            <a:ext cx="239315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Core Models Extracted in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5825" y="2668637"/>
            <a:ext cx="29527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Lato"/>
              </a:rPr>
              <a:t>Financials:</a:t>
            </a:r>
            <a:r>
              <a:rPr sz="975" b="0" i="0" u="none">
                <a:solidFill>
                  <a:srgbClr val="334155"/>
                </a:solidFill>
                <a:latin typeface="Lato"/>
              </a:rPr>
              <a:t> R$ 16.01M GMV, R$ 13.59M Net Revenue, R$ 160.99 AOV.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5825" y="3166616"/>
            <a:ext cx="29527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Lato"/>
              </a:rPr>
              <a:t>Milestone Lags:</a:t>
            </a:r>
            <a:r>
              <a:rPr sz="975" b="0" i="0" u="none">
                <a:solidFill>
                  <a:srgbClr val="334155"/>
                </a:solidFill>
                <a:latin typeface="Lato"/>
              </a:rPr>
              <a:t> Isolated seller dispatch delay from transit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5825" y="3664594"/>
            <a:ext cx="29527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1" i="0" u="none">
                <a:solidFill>
                  <a:srgbClr val="0F172A"/>
                </a:solidFill>
                <a:latin typeface="Lato"/>
              </a:rPr>
              <a:t>Advanced Analytics:</a:t>
            </a:r>
            <a:r>
              <a:rPr sz="975" b="0" i="0" u="none">
                <a:solidFill>
                  <a:srgbClr val="334155"/>
                </a:solidFill>
                <a:latin typeface="Lato"/>
              </a:rPr>
              <a:t> ABC Pareto tiers, XYZ volatility metrics, and stored procedures for audits.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437" y="1473398"/>
            <a:ext cx="142875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3425" y="2659112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2965251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862" y="1473398"/>
            <a:ext cx="16192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4375" y="2659112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4375" y="3157091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4862" y="1473398"/>
            <a:ext cx="12382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15325" y="2659112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3157091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325" y="3655069"/>
            <a:ext cx="47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1135260"/>
            <a:ext cx="6477000" cy="514171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140422"/>
            <a:ext cx="4381500" cy="13218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955083"/>
            <a:ext cx="4381500" cy="13218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1135260"/>
            <a:ext cx="2133600" cy="6990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0" y="1135260"/>
            <a:ext cx="2133600" cy="6990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948606"/>
            <a:ext cx="2133600" cy="6990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2250" y="1948606"/>
            <a:ext cx="2133600" cy="699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Tracking financial trajectory, credit card financing multipliers, and hourly transaction velocity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50" y="419100"/>
            <a:ext cx="683132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Executive Revenue Radar &amp; Commercial Economics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9928" y="898921"/>
            <a:ext cx="6522392" cy="54709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3664297"/>
            <a:ext cx="398145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Credit cards account for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78.34%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of volume, followed by Boleto at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17.92%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. Boleto introduces a 24–48 hour banking clearance delay before merchant fulfillment can begin.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5478958"/>
            <a:ext cx="398145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Financing optimization proves extended plans (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8–10 installments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) more than double Average Order Value compared to single payments. Volume peaks on weekdays between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13:00 and 16:00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1278135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R$ 16.01M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1567606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GROSS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225" y="1278135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R$ 13.59M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3225" y="1567606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NET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2091481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99,000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238095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TOTAL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3225" y="2091481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R$ 160.99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3225" y="238095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AVG ORDER VALUE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321397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6325" y="3354734"/>
            <a:ext cx="2057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>
                <a:solidFill>
                  <a:srgbClr val="0F172A"/>
                </a:solidFill>
                <a:latin typeface="Poppins SemiBold"/>
              </a:rPr>
              <a:t>Payment Splits &amp; Boleto Lag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5136058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6325" y="5169396"/>
            <a:ext cx="2571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>
                <a:solidFill>
                  <a:srgbClr val="0F172A"/>
                </a:solidFill>
                <a:latin typeface="Poppins SemiBold"/>
              </a:rPr>
              <a:t>Installment Multiplier &amp; Peak Hours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287" y="3392834"/>
            <a:ext cx="14287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12" y="5207496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1135260"/>
            <a:ext cx="6477000" cy="514171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140422"/>
            <a:ext cx="4381500" cy="13218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955083"/>
            <a:ext cx="4381500" cy="13218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1135260"/>
            <a:ext cx="2133600" cy="6990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0" y="1135260"/>
            <a:ext cx="2133600" cy="6990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948606"/>
            <a:ext cx="2133600" cy="6990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2250" y="1948606"/>
            <a:ext cx="2133600" cy="699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Decomposing transit duration, pinpointing SLA breaches, and classifying inventory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50" y="419100"/>
            <a:ext cx="6183897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Supply Chain Operations &amp; Fulfillment Latency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9928" y="898921"/>
            <a:ext cx="6522392" cy="54709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3664297"/>
            <a:ext cx="398145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Sellers consume an average of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2.71 days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packaging goods before carrier custody. Delivery couriers take public blame, but preventable delivery breaches originate with merchant dispatch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5478958"/>
            <a:ext cx="398145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Top 5 categories (Health &amp; Beauty, Watches, Bed &amp; Bath) drive over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54.4% of total GMV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with stable demand (AX), requiring automated continuous vendor replenishment.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1278135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12.50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1567606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AVG TRANSIT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225" y="1278135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DC2626"/>
                </a:solidFill>
                <a:latin typeface="Poppins"/>
              </a:rPr>
              <a:t>6.57%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3225" y="1567606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SLA BREACH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2091481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DC2626"/>
                </a:solidFill>
                <a:latin typeface="Poppins"/>
              </a:rPr>
              <a:t>10.62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238095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AVG DELAY IF 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3225" y="2091481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16.57%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3225" y="238095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FREIGHT REVENUE %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321397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6325" y="3354734"/>
            <a:ext cx="1952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>
                <a:solidFill>
                  <a:srgbClr val="0F172A"/>
                </a:solidFill>
                <a:latin typeface="Poppins SemiBold"/>
              </a:rPr>
              <a:t>The 2.71-Day Handover Lag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5136058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6325" y="5169396"/>
            <a:ext cx="2019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>
                <a:solidFill>
                  <a:srgbClr val="0F172A"/>
                </a:solidFill>
                <a:latin typeface="Poppins SemiBold"/>
              </a:rPr>
              <a:t>Integrated ABC / XYZ Matrix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392834"/>
            <a:ext cx="1524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287" y="5207496"/>
            <a:ext cx="1428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1135260"/>
            <a:ext cx="6477000" cy="514171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140422"/>
            <a:ext cx="4381500" cy="13218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955083"/>
            <a:ext cx="4381500" cy="13218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1135260"/>
            <a:ext cx="2133600" cy="6990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0" y="1135260"/>
            <a:ext cx="2133600" cy="6990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948606"/>
            <a:ext cx="2133600" cy="6990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2250" y="1948606"/>
            <a:ext cx="2133600" cy="699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Tracking the 3.12% repeat buyer bottleneck, 4-month cohort decay, and merchant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50" y="419100"/>
            <a:ext cx="6011688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Partner Risk &amp; Customer Retention Dynamics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9928" y="898921"/>
            <a:ext cx="6522392" cy="54709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3664297"/>
            <a:ext cx="398145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In a cohort of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2,676 first-time buyers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, only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14 return in Month 1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and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9 in Month 4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. Over 96% of buyers churn after a single purchase, turning Olist into an acquisition-dependent gateway.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5478958"/>
            <a:ext cx="398145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Merchants averaging 10–20+ days handover delay suffer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40–60% cancellation rates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. RFM isolates </a:t>
            </a:r>
            <a:r>
              <a:rPr sz="1012" b="1" i="0" u="none">
                <a:solidFill>
                  <a:srgbClr val="475569"/>
                </a:solidFill>
                <a:latin typeface="Lato"/>
              </a:rPr>
              <a:t>66.18K Hibernating Testers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vs 2.91K Champions to focus retention capital.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1278135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R$ 166.59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1567606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CUSTOMER LIFETIME 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225" y="1278135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DC2626"/>
                </a:solidFill>
                <a:latin typeface="Poppins"/>
              </a:rPr>
              <a:t>3.12%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3225" y="1567606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REPEAT BUYER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2091481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4.09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238095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AVG REVIEW 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3225" y="2091481"/>
            <a:ext cx="179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F172A"/>
                </a:solidFill>
                <a:latin typeface="Poppins"/>
              </a:rPr>
              <a:t>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3225" y="238095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Lato"/>
              </a:rPr>
              <a:t>ACTIVE SELLERS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321397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6325" y="3354734"/>
            <a:ext cx="1562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>
                <a:solidFill>
                  <a:srgbClr val="0F172A"/>
                </a:solidFill>
                <a:latin typeface="Poppins SemiBold"/>
              </a:rPr>
              <a:t>Severe Cohort Decay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5136058"/>
            <a:ext cx="2667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6325" y="5169396"/>
            <a:ext cx="1581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0" i="0" u="none">
                <a:solidFill>
                  <a:srgbClr val="0F172A"/>
                </a:solidFill>
                <a:latin typeface="Poppins SemiBold"/>
              </a:rPr>
              <a:t>Seller Risk &amp; RFM Tiers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5207496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35260"/>
            <a:ext cx="5448300" cy="563909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35260"/>
            <a:ext cx="5448300" cy="56390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6117133"/>
            <a:ext cx="485775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6117133"/>
            <a:ext cx="485775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7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Multilateral feature engineering, Haversine geospatial distance, and benchmarked regressors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6750" y="419100"/>
            <a:ext cx="477450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Predictive ML: Freight Pricing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1906785"/>
            <a:ext cx="4857750" cy="4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4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Extracted and joined 6 core attributes across customer, seller, product, and geolocation relational tables: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1906785"/>
            <a:ext cx="4857750" cy="4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4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Benchmarked multiple regression architectures using 5-fold cross-validation on target freight charges: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24625" y="2610147"/>
          <a:ext cx="4857748" cy="264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Poppins"/>
                        </a:rPr>
                        <a:t>Algorithm Evaluated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Poppins"/>
                        </a:rPr>
                        <a:t>R²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34155"/>
                          </a:solidFill>
                          <a:latin typeface="Poppins"/>
                        </a:rPr>
                        <a:t>Performance Remarks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Linear Regression (Baseline)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0.54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Underfits complex interstate pricing steps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Random Forest (RF)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Strong non-linear capture across volume tiers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Gradient Boosting (GB)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475569"/>
                          </a:solidFill>
                          <a:latin typeface="Lato"/>
                        </a:rPr>
                        <a:t>Robust ensemble boosting over spatial pairs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16A34A"/>
                          </a:solidFill>
                          <a:latin typeface="Lato"/>
                        </a:rPr>
                        <a:t>XGBoost Regressor (XGB)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16A34A"/>
                          </a:solidFill>
                          <a:latin typeface="Lato"/>
                        </a:rPr>
                        <a:t>0.73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16A34A"/>
                          </a:solidFill>
                          <a:latin typeface="Lato"/>
                        </a:rPr>
                        <a:t>Selected • Best predictive 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24625" y="5486697"/>
            <a:ext cx="4857750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2"/>
              </a:lnSpc>
            </a:pPr>
            <a:r>
              <a:rPr sz="1050" b="0" i="0" u="none">
                <a:solidFill>
                  <a:srgbClr val="475569"/>
                </a:solidFill>
                <a:latin typeface="Lato"/>
              </a:rPr>
              <a:t>Gradient-boosted decision trees explain 73% of freight variance, capturing physical volumetric density and geographic transit distance.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411485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66825" y="1459110"/>
            <a:ext cx="303907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Feature Engineering &amp; Preprocessing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552997"/>
            <a:ext cx="9810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6900" y="2552997"/>
            <a:ext cx="122872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1825" y="2552997"/>
            <a:ext cx="1028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6725" y="2552997"/>
            <a:ext cx="139065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2895897"/>
            <a:ext cx="100965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95475" y="2895897"/>
            <a:ext cx="52387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0125" y="3410247"/>
            <a:ext cx="4667250" cy="410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 dirty="0">
                <a:solidFill>
                  <a:srgbClr val="0F172A"/>
                </a:solidFill>
                <a:latin typeface="Lato"/>
              </a:rPr>
              <a:t>Haversine Distance (</a:t>
            </a:r>
            <a:r>
              <a:rPr sz="1050" b="1" i="0" u="none" dirty="0" err="1">
                <a:solidFill>
                  <a:srgbClr val="0F172A"/>
                </a:solidFill>
                <a:latin typeface="Lato"/>
              </a:rPr>
              <a:t>distance_km</a:t>
            </a:r>
            <a:r>
              <a:rPr sz="1050" b="1" i="0" u="none" dirty="0">
                <a:solidFill>
                  <a:srgbClr val="0F172A"/>
                </a:solidFill>
                <a:latin typeface="Lato"/>
              </a:rPr>
              <a:t>):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Calculated spherical geodesic transit distance in kilometers between seller and customer </a:t>
            </a:r>
            <a:r>
              <a:rPr sz="1050" b="0" i="0" u="none" dirty="0" err="1">
                <a:solidFill>
                  <a:srgbClr val="334155"/>
                </a:solidFill>
                <a:latin typeface="Lato"/>
              </a:rPr>
              <a:t>lat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/long coordinates.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4183409"/>
            <a:ext cx="4667250" cy="410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 dirty="0">
                <a:solidFill>
                  <a:srgbClr val="0F172A"/>
                </a:solidFill>
                <a:latin typeface="Lato"/>
              </a:rPr>
              <a:t>Product Volume (volume_cm3):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Derived 3D packaging space</a:t>
            </a:r>
            <a:endParaRPr lang="en-US" sz="1050" b="0" i="0" u="none" dirty="0">
              <a:solidFill>
                <a:srgbClr val="334155"/>
              </a:solidFill>
              <a:latin typeface="Lato"/>
            </a:endParaRPr>
          </a:p>
          <a:p>
            <a:pPr algn="l">
              <a:lnSpc>
                <a:spcPts val="1679"/>
              </a:lnSpc>
            </a:pPr>
            <a:r>
              <a:rPr lang="en-IN" sz="1050" dirty="0">
                <a:solidFill>
                  <a:srgbClr val="334155"/>
                </a:solidFill>
                <a:latin typeface="Lato"/>
              </a:rPr>
              <a:t>	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(Length </a:t>
            </a:r>
            <a:r>
              <a:rPr lang="en-US" sz="1050" b="0" i="0" u="none" dirty="0">
                <a:solidFill>
                  <a:srgbClr val="334155"/>
                </a:solidFill>
                <a:latin typeface="Lato"/>
              </a:rPr>
              <a:t>*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Height</a:t>
            </a:r>
            <a:r>
              <a:rPr lang="en-US" sz="1050" b="0" i="0" u="none" dirty="0">
                <a:solidFill>
                  <a:srgbClr val="334155"/>
                </a:solidFill>
                <a:latin typeface="Lato"/>
              </a:rPr>
              <a:t> * 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Width) in cubic centimeters.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4743301"/>
            <a:ext cx="46672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Scikit-Learn Pipeline: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Categorical state pair variables transformed with </a:t>
            </a:r>
            <a:r>
              <a:rPr sz="1050" b="1" i="0" u="none">
                <a:solidFill>
                  <a:srgbClr val="0F172A"/>
                </a:solidFill>
                <a:latin typeface="Lato"/>
              </a:rPr>
              <a:t>One-Hot Encoding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; numerical distributions normalized with </a:t>
            </a:r>
            <a:r>
              <a:rPr sz="1050" b="1" i="0" u="none">
                <a:solidFill>
                  <a:srgbClr val="0F172A"/>
                </a:solidFill>
                <a:latin typeface="Lato"/>
              </a:rPr>
              <a:t>RobustScaler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to neutralize heavy-tailed outliers.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4625" y="1411485"/>
            <a:ext cx="342900" cy="342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1825" y="1459110"/>
            <a:ext cx="256460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Model Benchmarks &amp; Selection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9637" y="1511498"/>
            <a:ext cx="142875" cy="1428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9625" y="3400722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4173884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4733776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5112" y="1511498"/>
            <a:ext cx="161925" cy="142875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524625" y="3672185"/>
            <a:ext cx="1631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56078" y="3672185"/>
            <a:ext cx="835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91153" y="3672185"/>
            <a:ext cx="2391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24625" y="4196060"/>
            <a:ext cx="1631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56078" y="4196060"/>
            <a:ext cx="835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91153" y="4196060"/>
            <a:ext cx="2391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24625" y="4719935"/>
            <a:ext cx="1631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56078" y="4719935"/>
            <a:ext cx="835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91153" y="4719935"/>
            <a:ext cx="2391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24625" y="5243810"/>
            <a:ext cx="1631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56078" y="5243810"/>
            <a:ext cx="835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91153" y="5243810"/>
            <a:ext cx="2391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35260"/>
            <a:ext cx="5068044" cy="514171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094" y="1135260"/>
            <a:ext cx="5828555" cy="51417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619750"/>
            <a:ext cx="4477494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369" y="5619750"/>
            <a:ext cx="523800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369" y="1944885"/>
            <a:ext cx="5238005" cy="9600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369" y="3038326"/>
            <a:ext cx="5238005" cy="96009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369" y="4131766"/>
            <a:ext cx="5238005" cy="96009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5344" y="2125860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5344" y="3219301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5344" y="4312741"/>
            <a:ext cx="2476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4350" y="6391275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Lato SemiBold"/>
              </a:rPr>
              <a:t>Slide 8 of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763785"/>
            <a:ext cx="11010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Lato"/>
              </a:rPr>
              <a:t>Operationalizing live predictive analytics and delivering data-backed supply chain directives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43428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750" y="419100"/>
            <a:ext cx="6454244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Poppins"/>
              </a:rPr>
              <a:t>Deployment &amp; Strategic Management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1906785"/>
            <a:ext cx="4477494" cy="455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4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Deployed an interactive, multi-module web interface for cross-functional operational stakeholders: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1411485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66825" y="1459110"/>
            <a:ext cx="250581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Streamlit Application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2552997"/>
            <a:ext cx="4286994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Module 1 — Schema Explorer: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Audit relational tables, inspect data types, and run ad-hoc SQL validation queries.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112889"/>
            <a:ext cx="4286994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Module 2 — Analytics Hub: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Interactive Plotly visualizations for RFM clusters, ABC Pareto curves, and cohort retention.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3672780"/>
            <a:ext cx="4286994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0F172A"/>
                </a:solidFill>
                <a:latin typeface="Lato"/>
              </a:rPr>
              <a:t>Module 3 — Live Freight Estimator: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Real-time checkout quoter taking parcel dimensions, weight, price, and route states to output instant shipping fees.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369" y="1411485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1569" y="1459110"/>
            <a:ext cx="21487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F172A"/>
                </a:solidFill>
                <a:latin typeface="Poppins SemiBold"/>
              </a:rPr>
              <a:t>Three Strategic Directives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637" y="1511498"/>
            <a:ext cx="142875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9625" y="2543472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3103364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66325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284C7"/>
                </a:solidFill>
                <a:latin typeface="Lato"/>
              </a:rPr>
              <a:t>▪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4381" y="1511498"/>
            <a:ext cx="142875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25394" y="2106810"/>
            <a:ext cx="4476005" cy="63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Enforce 24-Hour Seller Handover SLAs: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Tackling the 2.71-day merchant packaging delay eliminates the primary root cause pushing deliveries past promised SLA deadlines.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5394" y="3200251"/>
            <a:ext cx="4476005" cy="63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Automate RFM Replenishment Loops: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Target the 2.91K Champions and 17.69K Core buyers in high-frequency verticals (Health &amp; Beauty, Bed &amp; Bath) to lift the 3.12% repeat rate baseline.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5394" y="4293691"/>
            <a:ext cx="4476005" cy="63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Embed Live Freight Quoting at Checkout: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Deploy the XGBoost predictive model directly into checkout pages to eliminate shipping price opacity and prevent cart abandonment.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1159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Sheoran</cp:lastModifiedBy>
  <cp:revision>3</cp:revision>
  <dcterms:created xsi:type="dcterms:W3CDTF">2013-01-27T09:14:16Z</dcterms:created>
  <dcterms:modified xsi:type="dcterms:W3CDTF">2026-09-09T05:35:20Z</dcterms:modified>
  <cp:category/>
</cp:coreProperties>
</file>